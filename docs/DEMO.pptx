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Snowflake Iceberg Performance Benchmark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Performance Testing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Welcome to the Snowflake Iceberg Performance Testing Suite demonstration. This comprehensive framework enables you to compare the performance, cost, and characteristics of four different Snowflake table formats using the industry-standard TPC-DS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System Architecture &amp; Configuration</a:t>
            </a:r>
          </a:p>
        </p:txBody>
      </p:sp>
      <p:pic>
        <p:nvPicPr>
          <p:cNvPr id="4" name="Picture 3" descr="confi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This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This project is a comprehensive performance testing framework designed to evaluate and compare four different Snowflake table storage formats:</a:t>
            </a:r>
          </a:p>
          <a:p>
            <a:pPr>
              <a:spcAft>
                <a:spcPts val="600"/>
              </a:spcAft>
              <a:defRPr sz="1800"/>
            </a:pPr>
            <a:r>
              <a:t>Native Snowflake Tables - Standard Snowflake managed tables with full Snowflake optimization</a:t>
            </a:r>
          </a:p>
          <a:p>
            <a:pPr>
              <a:spcAft>
                <a:spcPts val="600"/>
              </a:spcAft>
              <a:defRPr sz="1800"/>
            </a:pPr>
            <a:r>
              <a:t>Iceberg Snowflake-Managed - Apache Iceberg format with Snowflake's native catalog integration</a:t>
            </a:r>
          </a:p>
          <a:p>
            <a:pPr>
              <a:spcAft>
                <a:spcPts val="600"/>
              </a:spcAft>
              <a:defRPr sz="1800"/>
            </a:pPr>
            <a:r>
              <a:t>Iceberg AWS Glue-Managed - Apache Iceberg format with external AWS Glue catalog for cross-platform compatibility</a:t>
            </a:r>
          </a:p>
          <a:p>
            <a:pPr>
              <a:spcAft>
                <a:spcPts val="600"/>
              </a:spcAft>
              <a:defRPr sz="1800"/>
            </a:pPr>
            <a:r>
              <a:t>External Tables - External tables pointing directly to Parquet files in S3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Does This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As organizations modernize their data architectures, they face critical decisions about data storage formats:</a:t>
            </a:r>
          </a:p>
          <a:p>
            <a:pPr>
              <a:spcAft>
                <a:spcPts val="600"/>
              </a:spcAft>
              <a:defRPr sz="1800"/>
            </a:pPr>
            <a:r>
              <a:t>Performance: Which format delivers the best query performance for your workload?</a:t>
            </a:r>
          </a:p>
          <a:p>
            <a:pPr>
              <a:spcAft>
                <a:spcPts val="600"/>
              </a:spcAft>
              <a:defRPr sz="1800"/>
            </a:pPr>
            <a:r>
              <a:t>Cost: What are the total cost implications including compute, storage, and cloud services?</a:t>
            </a:r>
          </a:p>
          <a:p>
            <a:pPr>
              <a:spcAft>
                <a:spcPts val="600"/>
              </a:spcAft>
              <a:defRPr sz="1800"/>
            </a:pPr>
            <a:r>
              <a:t>Compatibility: Do you need cross-platform compatibility or vendor lock-in?</a:t>
            </a:r>
          </a:p>
          <a:p>
            <a:pPr>
              <a:spcAft>
                <a:spcPts val="600"/>
              </a:spcAft>
              <a:defRPr sz="1800"/>
            </a:pPr>
            <a:r>
              <a:t>Features: Which format supports the features you need (ACID transactions, time travel, versioning)?</a:t>
            </a:r>
          </a:p>
          <a:p>
            <a:pPr>
              <a:spcAft>
                <a:spcPts val="800"/>
              </a:spcAft>
              <a:defRPr sz="1600"/>
            </a:pPr>
            <a:r>
              <a:t>This benchmark provides data-driven insights to make informed architectural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TPC-DS Benchmark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TPC-DS (Transaction Processing Performance Council Decision Support) is the industry-standard benchmark for decision support systems. It includes:</a:t>
            </a:r>
          </a:p>
          <a:p>
            <a:pPr>
              <a:spcAft>
                <a:spcPts val="600"/>
              </a:spcAft>
              <a:defRPr sz="1800"/>
            </a:pPr>
            <a:r>
              <a:t>99 standardized queries covering real-world analytical workloads</a:t>
            </a:r>
          </a:p>
          <a:p>
            <a:pPr>
              <a:spcAft>
                <a:spcPts val="600"/>
              </a:spcAft>
              <a:defRPr sz="1800"/>
            </a:pPr>
            <a:r>
              <a:t>24 tables (17 dimension tables, 7 fact tables) representing a retail data warehouse</a:t>
            </a:r>
          </a:p>
          <a:p>
            <a:pPr>
              <a:spcAft>
                <a:spcPts val="600"/>
              </a:spcAft>
              <a:defRPr sz="1800"/>
            </a:pPr>
            <a:r>
              <a:t>4 query categories:</a:t>
            </a:r>
          </a:p>
          <a:p>
            <a:pPr>
              <a:spcAft>
                <a:spcPts val="600"/>
              </a:spcAft>
              <a:defRPr sz="1800"/>
            </a:pPr>
            <a:r>
              <a:t>Reporting Queries (1-20): Standard business reporting and dashboards</a:t>
            </a:r>
          </a:p>
          <a:p>
            <a:pPr>
              <a:spcAft>
                <a:spcPts val="600"/>
              </a:spcAft>
              <a:defRPr sz="1800"/>
            </a:pPr>
            <a:r>
              <a:t>Ad-hoc Queries (21-40): Business analysis and exploration</a:t>
            </a:r>
          </a:p>
          <a:p>
            <a:pPr>
              <a:spcAft>
                <a:spcPts val="600"/>
              </a:spcAft>
              <a:defRPr sz="1800"/>
            </a:pPr>
            <a:r>
              <a:t>Iterative Queries (41-60): Multi-step analytical processes</a:t>
            </a:r>
          </a:p>
          <a:p>
            <a:pPr>
              <a:spcAft>
                <a:spcPts val="600"/>
              </a:spcAft>
              <a:defRPr sz="1800"/>
            </a:pPr>
            <a:r>
              <a:t>Data Mining Queries (61-99): Advanced analytics and statistical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TPC-DS Benchmark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The benchmark provides a realistic, comprehensive workload that mirrors production analytical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and 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Primary Use Cases:</a:t>
            </a:r>
          </a:p>
          <a:p>
            <a:pPr>
              <a:spcAft>
                <a:spcPts val="600"/>
              </a:spcAft>
              <a:defRPr sz="1800"/>
            </a:pPr>
            <a:r>
              <a:t>Architecture Evaluation: Compare table formats before making architectural decisions</a:t>
            </a:r>
          </a:p>
          <a:p>
            <a:pPr>
              <a:spcAft>
                <a:spcPts val="600"/>
              </a:spcAft>
              <a:defRPr sz="1800"/>
            </a:pPr>
            <a:r>
              <a:t>Performance Optimization: Identify performance bottlenecks and optimization opportunities</a:t>
            </a:r>
          </a:p>
          <a:p>
            <a:pPr>
              <a:spcAft>
                <a:spcPts val="600"/>
              </a:spcAft>
              <a:defRPr sz="1800"/>
            </a:pPr>
            <a:r>
              <a:t>Cost Analysis: Understand total cost of ownership across different formats</a:t>
            </a:r>
          </a:p>
          <a:p>
            <a:pPr>
              <a:spcAft>
                <a:spcPts val="600"/>
              </a:spcAft>
              <a:defRPr sz="1800"/>
            </a:pPr>
            <a:r>
              <a:t>Migration Planning: Evaluate migration from one format to another</a:t>
            </a:r>
          </a:p>
          <a:p>
            <a:pPr>
              <a:spcAft>
                <a:spcPts val="600"/>
              </a:spcAft>
              <a:defRPr sz="1800"/>
            </a:pPr>
            <a:r>
              <a:t>Capacity Planning: Understand resource requirements for different formats</a:t>
            </a:r>
          </a:p>
          <a:p>
            <a:pPr>
              <a:spcAft>
                <a:spcPts val="800"/>
              </a:spcAft>
              <a:defRPr sz="1600"/>
            </a:pPr>
            <a:r>
              <a:t>Target Audience:</a:t>
            </a:r>
          </a:p>
          <a:p>
            <a:pPr>
              <a:spcAft>
                <a:spcPts val="600"/>
              </a:spcAft>
              <a:defRPr sz="1800"/>
            </a:pPr>
            <a:r>
              <a:t>Data architects and engineers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and 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Performance engineers</a:t>
            </a:r>
          </a:p>
          <a:p>
            <a:pPr>
              <a:spcAft>
                <a:spcPts val="600"/>
              </a:spcAft>
              <a:defRPr sz="1800"/>
            </a:pPr>
            <a:r>
              <a:t>Cost optimization teams</a:t>
            </a:r>
          </a:p>
          <a:p>
            <a:pPr>
              <a:spcAft>
                <a:spcPts val="600"/>
              </a:spcAft>
              <a:defRPr sz="1800"/>
            </a:pPr>
            <a:r>
              <a:t>Technical decision makers</a:t>
            </a:r>
          </a:p>
          <a:p>
            <a:pPr>
              <a:spcAft>
                <a:spcPts val="600"/>
              </a:spcAft>
              <a:defRPr sz="1800"/>
            </a:pPr>
            <a:r>
              <a:t>Snowflake administrators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Why This Comparison Matters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Use Cases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Best performance, full Snowflake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Snowflake-only environments, maximum performance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Iceberg 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ACID transactions, time travel, versioning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 lakes with Snowflake, version control needs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Iceberg Glue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Cross-platform compatibility, AWS 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Multi-engine environments, AWS-native stacks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Cost-effective, direct S3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Read-heavy workloads, cost optimization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Native Format Data Flow</a:t>
            </a:r>
          </a:p>
        </p:txBody>
      </p:sp>
      <p:pic>
        <p:nvPicPr>
          <p:cNvPr id="4" name="Picture 3" descr="nativ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Iceberg Sf Format Data Flow</a:t>
            </a:r>
          </a:p>
        </p:txBody>
      </p:sp>
      <p:pic>
        <p:nvPicPr>
          <p:cNvPr id="4" name="Picture 3" descr="iceberg_sf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Iceberg Glue Format Data Flow</a:t>
            </a:r>
          </a:p>
        </p:txBody>
      </p:sp>
      <p:pic>
        <p:nvPicPr>
          <p:cNvPr id="4" name="Picture 3" descr="iceberg_glu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External Format Data Flow</a:t>
            </a:r>
          </a:p>
        </p:txBody>
      </p:sp>
      <p:pic>
        <p:nvPicPr>
          <p:cNvPr id="4" name="Picture 3" descr="externa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Python 3.8 or higher</a:t>
            </a:r>
          </a:p>
          <a:p>
            <a:pPr>
              <a:spcAft>
                <a:spcPts val="800"/>
              </a:spcAft>
              <a:defRPr sz="1600"/>
            </a:pPr>
            <a:r>
              <a:t>```bash</a:t>
            </a:r>
          </a:p>
          <a:p>
            <a:pPr>
              <a:spcAft>
                <a:spcPts val="800"/>
              </a:spcAft>
              <a:defRPr sz="1600"/>
            </a:pPr>
            <a:r>
              <a:t>python --version  # Should show 3.8+</a:t>
            </a:r>
          </a:p>
          <a:p>
            <a:pPr>
              <a:spcAft>
                <a:spcPts val="800"/>
              </a:spcAft>
              <a:defRPr sz="1600"/>
            </a:pPr>
            <a:r>
              <a:t>```</a:t>
            </a:r>
          </a:p>
          <a:p>
            <a:pPr>
              <a:spcAft>
                <a:spcPts val="600"/>
              </a:spcAft>
              <a:defRPr sz="1800"/>
            </a:pPr>
            <a:r>
              <a:t>Python Dependencies</a:t>
            </a:r>
          </a:p>
          <a:p>
            <a:pPr>
              <a:spcAft>
                <a:spcPts val="800"/>
              </a:spcAft>
              <a:defRPr sz="1600"/>
            </a:pPr>
            <a:r>
              <a:t>```bash</a:t>
            </a:r>
          </a:p>
          <a:p>
            <a:pPr>
              <a:spcAft>
                <a:spcPts val="800"/>
              </a:spcAft>
              <a:defRPr sz="1600"/>
            </a:pPr>
            <a:r>
              <a:t>pip install -r requirements.txt</a:t>
            </a:r>
          </a:p>
          <a:p>
            <a:pPr>
              <a:spcAft>
                <a:spcPts val="800"/>
              </a:spcAft>
              <a:defRPr sz="1600"/>
            </a:pPr>
            <a:r>
              <a:t>```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Key dependencies include:</a:t>
            </a:r>
          </a:p>
          <a:p>
            <a:pPr>
              <a:spcAft>
                <a:spcPts val="600"/>
              </a:spcAft>
              <a:defRPr sz="1800"/>
            </a:pPr>
            <a:r>
              <a:t>snowflake-connector-python - Snowflake connectivity</a:t>
            </a:r>
          </a:p>
          <a:p>
            <a:pPr>
              <a:spcAft>
                <a:spcPts val="600"/>
              </a:spcAft>
              <a:defRPr sz="1800"/>
            </a:pPr>
            <a:r>
              <a:t>pandas, numpy - Data processing</a:t>
            </a:r>
          </a:p>
          <a:p>
            <a:pPr>
              <a:spcAft>
                <a:spcPts val="600"/>
              </a:spcAft>
              <a:defRPr sz="1800"/>
            </a:pPr>
            <a:r>
              <a:t>matplotlib, seaborn - Visualization</a:t>
            </a:r>
          </a:p>
          <a:p>
            <a:pPr>
              <a:spcAft>
                <a:spcPts val="600"/>
              </a:spcAft>
              <a:defRPr sz="1800"/>
            </a:pPr>
            <a:r>
              <a:t>boto3 - AWS integration</a:t>
            </a:r>
          </a:p>
          <a:p>
            <a:pPr>
              <a:spcAft>
                <a:spcPts val="600"/>
              </a:spcAft>
              <a:defRPr sz="1800"/>
            </a:pPr>
            <a:r>
              <a:t>pyyaml - Configuration management</a:t>
            </a:r>
          </a:p>
          <a:p>
            <a:pPr>
              <a:spcAft>
                <a:spcPts val="600"/>
              </a:spcAft>
              <a:defRPr sz="1800"/>
            </a:pPr>
            <a:r>
              <a:t>Terraform (for AWS infrastructure setup)</a:t>
            </a:r>
          </a:p>
          <a:p>
            <a:pPr>
              <a:spcAft>
                <a:spcPts val="800"/>
              </a:spcAft>
              <a:defRPr sz="1600"/>
            </a:pPr>
            <a:r>
              <a:t>```bash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terraform --version</a:t>
            </a:r>
          </a:p>
          <a:p>
            <a:pPr>
              <a:spcAft>
                <a:spcPts val="800"/>
              </a:spcAft>
              <a:defRPr sz="1600"/>
            </a:pPr>
            <a:r>
              <a:t>```</a:t>
            </a:r>
          </a:p>
          <a:p>
            <a:pPr>
              <a:spcAft>
                <a:spcPts val="600"/>
              </a:spcAft>
              <a:defRPr sz="1800"/>
            </a:pPr>
            <a:r>
              <a:t>Spark (optional, for Glue table creation if using Iceberg Glue format)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Accounts and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Snowflake Account</a:t>
            </a:r>
          </a:p>
          <a:p>
            <a:pPr>
              <a:spcAft>
                <a:spcPts val="600"/>
              </a:spcAft>
              <a:defRPr sz="1800"/>
            </a:pPr>
            <a:r>
              <a:t>ACCOUNTADMIN role or equivalent permissions</a:t>
            </a:r>
          </a:p>
          <a:p>
            <a:pPr>
              <a:spcAft>
                <a:spcPts val="600"/>
              </a:spcAft>
              <a:defRPr sz="1800"/>
            </a:pPr>
            <a:r>
              <a:t>Warehouse created and running</a:t>
            </a:r>
          </a:p>
          <a:p>
            <a:pPr>
              <a:spcAft>
                <a:spcPts val="600"/>
              </a:spcAft>
              <a:defRPr sz="1800"/>
            </a:pPr>
            <a:r>
              <a:t>Permissions for:</a:t>
            </a:r>
          </a:p>
          <a:p>
            <a:pPr>
              <a:spcAft>
                <a:spcPts val="600"/>
              </a:spcAft>
              <a:defRPr sz="1800"/>
            </a:pPr>
            <a:r>
              <a:t>External volume creation</a:t>
            </a:r>
          </a:p>
          <a:p>
            <a:pPr>
              <a:spcAft>
                <a:spcPts val="600"/>
              </a:spcAft>
              <a:defRPr sz="1800"/>
            </a:pPr>
            <a:r>
              <a:t>Catalog integration creation</a:t>
            </a:r>
          </a:p>
          <a:p>
            <a:pPr>
              <a:spcAft>
                <a:spcPts val="600"/>
              </a:spcAft>
              <a:defRPr sz="1800"/>
            </a:pPr>
            <a:r>
              <a:t>Database and schema creation</a:t>
            </a:r>
          </a:p>
          <a:p>
            <a:pPr>
              <a:spcAft>
                <a:spcPts val="600"/>
              </a:spcAft>
              <a:defRPr sz="1800"/>
            </a:pPr>
            <a:r>
              <a:t>AWS Account (for Iceberg Glue and External formats)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Accounts and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S3 bucket access</a:t>
            </a:r>
          </a:p>
          <a:p>
            <a:pPr>
              <a:spcAft>
                <a:spcPts val="600"/>
              </a:spcAft>
              <a:defRPr sz="1800"/>
            </a:pPr>
            <a:r>
              <a:t>AWS Glue catalog access (for Iceberg Glue format)</a:t>
            </a:r>
          </a:p>
          <a:p>
            <a:pPr>
              <a:spcAft>
                <a:spcPts val="600"/>
              </a:spcAft>
              <a:defRPr sz="1800"/>
            </a:pPr>
            <a:r>
              <a:t>IAM roles configured for Snowflake integration</a:t>
            </a:r>
          </a:p>
          <a:p>
            <a:pPr>
              <a:spcAft>
                <a:spcPts val="600"/>
              </a:spcAft>
              <a:defRPr sz="1800"/>
            </a:pPr>
            <a:r>
              <a:t>Appropriate region (recommended: same region as Snowflake)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Environment Variables</a:t>
            </a:r>
          </a:p>
          <a:p>
            <a:pPr>
              <a:spcAft>
                <a:spcPts val="800"/>
              </a:spcAft>
              <a:defRPr sz="1600"/>
            </a:pPr>
            <a:r>
              <a:t>```bash</a:t>
            </a:r>
          </a:p>
          <a:p>
            <a:pPr>
              <a:spcAft>
                <a:spcPts val="800"/>
              </a:spcAft>
              <a:defRPr sz="1600"/>
            </a:pPr>
            <a:r>
              <a:t>cp env.example .env</a:t>
            </a:r>
          </a:p>
          <a:p>
            <a:pPr>
              <a:spcAft>
                <a:spcPts val="800"/>
              </a:spcAft>
              <a:defRPr sz="1600"/>
            </a:pPr>
            <a:r>
              <a:t># Edit .env with your credentials</a:t>
            </a:r>
          </a:p>
          <a:p>
            <a:pPr>
              <a:spcAft>
                <a:spcPts val="800"/>
              </a:spcAft>
              <a:defRPr sz="1600"/>
            </a:pPr>
            <a:r>
              <a:t>```</a:t>
            </a:r>
          </a:p>
          <a:p>
            <a:pPr>
              <a:spcAft>
                <a:spcPts val="800"/>
              </a:spcAft>
              <a:defRPr sz="1600"/>
            </a:pPr>
            <a:r>
              <a:t>Required variables:</a:t>
            </a:r>
          </a:p>
          <a:p>
            <a:pPr>
              <a:spcAft>
                <a:spcPts val="600"/>
              </a:spcAft>
              <a:defRPr sz="1800"/>
            </a:pPr>
            <a:r>
              <a:t>SNOWFLAKE_USER - Your Snowflake username</a:t>
            </a:r>
          </a:p>
          <a:p>
            <a:pPr>
              <a:spcAft>
                <a:spcPts val="600"/>
              </a:spcAft>
              <a:defRPr sz="1800"/>
            </a:pPr>
            <a:r>
              <a:t>SNOWFLAKE_ACCOUNT - Your Snowflake account identifier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SNOWFLAKE_WAREHOUSE - Warehouse name</a:t>
            </a:r>
          </a:p>
          <a:p>
            <a:pPr>
              <a:spcAft>
                <a:spcPts val="600"/>
              </a:spcAft>
              <a:defRPr sz="1800"/>
            </a:pPr>
            <a:r>
              <a:t>SNOWFLAKE_DATABASE - Database name (default: tpcds_performance_test)</a:t>
            </a:r>
          </a:p>
          <a:p>
            <a:pPr>
              <a:spcAft>
                <a:spcPts val="600"/>
              </a:spcAft>
              <a:defRPr sz="1800"/>
            </a:pPr>
            <a:r>
              <a:t>SNOWFLAKE_ROLE - Role (typically ACCOUNTADMIN)</a:t>
            </a:r>
          </a:p>
          <a:p>
            <a:pPr>
              <a:spcAft>
                <a:spcPts val="600"/>
              </a:spcAft>
              <a:defRPr sz="1800"/>
            </a:pPr>
            <a:r>
              <a:t>SNOWFLAKE_PRIVATE_KEY_FILE - Path to RSA private key</a:t>
            </a:r>
          </a:p>
          <a:p>
            <a:pPr>
              <a:spcAft>
                <a:spcPts val="600"/>
              </a:spcAft>
              <a:defRPr sz="1800"/>
            </a:pPr>
            <a:r>
              <a:t>AWS_REGION - AWS region</a:t>
            </a:r>
          </a:p>
          <a:p>
            <a:pPr>
              <a:spcAft>
                <a:spcPts val="600"/>
              </a:spcAft>
              <a:defRPr sz="1800"/>
            </a:pPr>
            <a:r>
              <a:t>AWS_S3_BUCKET - S3 bucket name</a:t>
            </a:r>
          </a:p>
          <a:p>
            <a:pPr>
              <a:spcAft>
                <a:spcPts val="600"/>
              </a:spcAft>
              <a:defRPr sz="1800"/>
            </a:pPr>
            <a:r>
              <a:t>AWS_GLUE_DATABASE - Glue database name (if using Iceberg Glue)</a:t>
            </a:r>
          </a:p>
          <a:p>
            <a:pPr>
              <a:spcAft>
                <a:spcPts val="600"/>
              </a:spcAft>
              <a:defRPr sz="1800"/>
            </a:pPr>
            <a:r>
              <a:t>Load Environment Variables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```bash</a:t>
            </a:r>
          </a:p>
          <a:p>
            <a:pPr>
              <a:spcAft>
                <a:spcPts val="800"/>
              </a:spcAft>
              <a:defRPr sz="1600"/>
            </a:pPr>
            <a:r>
              <a:t>set -a &amp;&amp; source .env &amp;&amp; set +a</a:t>
            </a:r>
          </a:p>
          <a:p>
            <a:pPr>
              <a:spcAft>
                <a:spcPts val="800"/>
              </a:spcAft>
              <a:defRPr sz="1600"/>
            </a:pPr>
            <a:r>
              <a:t>```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The benchmark requires TPC-DS test data. You have two options:</a:t>
            </a:r>
          </a:p>
          <a:p>
            <a:pPr>
              <a:spcAft>
                <a:spcPts val="600"/>
              </a:spcAft>
              <a:defRPr sz="1800"/>
            </a:pPr>
            <a:r>
              <a:t>Use Existing Data: If data is already loaded in Snowflake</a:t>
            </a:r>
          </a:p>
          <a:p>
            <a:pPr>
              <a:spcAft>
                <a:spcPts val="600"/>
              </a:spcAft>
              <a:defRPr sz="1800"/>
            </a:pPr>
            <a:r>
              <a:t>Generate and Load Data: Run the data loading pipeline</a:t>
            </a:r>
          </a:p>
          <a:p>
            <a:pPr>
              <a:spcAft>
                <a:spcPts val="800"/>
              </a:spcAft>
              <a:defRPr sz="1600"/>
            </a:pPr>
            <a:r>
              <a:t>```bash</a:t>
            </a:r>
          </a:p>
          <a:p>
            <a:pPr>
              <a:spcAft>
                <a:spcPts val="800"/>
              </a:spcAft>
              <a:defRPr sz="1600"/>
            </a:pPr>
            <a:r>
              <a:t>cd setup/data/</a:t>
            </a:r>
          </a:p>
          <a:p>
            <a:pPr>
              <a:spcAft>
                <a:spcPts val="800"/>
              </a:spcAft>
              <a:defRPr sz="1600"/>
            </a:pPr>
            <a:r>
              <a:t>python main.py --action full --scale-factor 0.1  # For quick demo (100MB)</a:t>
            </a:r>
          </a:p>
          <a:p>
            <a:pPr>
              <a:spcAft>
                <a:spcPts val="800"/>
              </a:spcAft>
              <a:defRPr sz="1600"/>
            </a:pPr>
            <a:r>
              <a:t>```</a:t>
            </a:r>
          </a:p>
          <a:p>
            <a:pPr>
              <a:spcAft>
                <a:spcPts val="800"/>
              </a:spcAft>
              <a:defRPr sz="1600"/>
            </a:pPr>
            <a:r>
              <a:t>Scale factors:</a:t>
            </a:r>
          </a:p>
          <a:p>
            <a:pPr>
              <a:spcAft>
                <a:spcPts val="600"/>
              </a:spcAft>
              <a:defRPr sz="1800"/>
            </a:pPr>
            <a:r>
              <a:t>0.01 - ~10MB (quick testing)</a:t>
            </a:r>
          </a:p>
          <a:p>
            <a:pPr>
              <a:spcAft>
                <a:spcPts val="600"/>
              </a:spcAft>
              <a:defRPr sz="1800"/>
            </a:pPr>
            <a:r>
              <a:t>0.1 - ~100MB (development/demo)</a:t>
            </a:r>
          </a:p>
          <a:p>
            <a:pPr>
              <a:spcAft>
                <a:spcPts val="600"/>
              </a:spcAft>
              <a:defRPr sz="1800"/>
            </a:pPr>
            <a:r>
              <a:t>1.0 - ~1GB (standard testing)</a:t>
            </a:r>
          </a:p>
          <a:p>
            <a:pPr>
              <a:spcAft>
                <a:spcPts val="600"/>
              </a:spcAft>
              <a:defRPr sz="1800"/>
            </a:pPr>
            <a:r>
              <a:t>10.0 - ~10GB (performance testing)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Data Generation &amp; Loading Pipeline</a:t>
            </a:r>
          </a:p>
        </p:txBody>
      </p:sp>
      <p:pic>
        <p:nvPicPr>
          <p:cNvPr id="4" name="Picture 3" descr="data_ge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Before running benchmarks, ensure infrastructure is set up:</a:t>
            </a:r>
          </a:p>
          <a:p>
            <a:pPr>
              <a:spcAft>
                <a:spcPts val="600"/>
              </a:spcAft>
              <a:defRPr sz="1800"/>
            </a:pPr>
            <a:r>
              <a:t>AWS Infrastructure (if using Iceberg/External formats)</a:t>
            </a:r>
          </a:p>
          <a:p>
            <a:pPr>
              <a:spcAft>
                <a:spcPts val="800"/>
              </a:spcAft>
              <a:defRPr sz="1600"/>
            </a:pPr>
            <a:r>
              <a:t>```bash</a:t>
            </a:r>
          </a:p>
          <a:p>
            <a:pPr>
              <a:spcAft>
                <a:spcPts val="800"/>
              </a:spcAft>
              <a:defRPr sz="1600"/>
            </a:pPr>
            <a:r>
              <a:t>cd setup/infrastructure/</a:t>
            </a:r>
          </a:p>
          <a:p>
            <a:pPr>
              <a:spcAft>
                <a:spcPts val="800"/>
              </a:spcAft>
              <a:defRPr sz="1600"/>
            </a:pPr>
            <a:r>
              <a:t>terraform init</a:t>
            </a:r>
          </a:p>
          <a:p>
            <a:pPr>
              <a:spcAft>
                <a:spcPts val="800"/>
              </a:spcAft>
              <a:defRPr sz="1600"/>
            </a:pPr>
            <a:r>
              <a:t>terraform apply</a:t>
            </a:r>
          </a:p>
          <a:p>
            <a:pPr>
              <a:spcAft>
                <a:spcPts val="800"/>
              </a:spcAft>
              <a:defRPr sz="1600"/>
            </a:pPr>
            <a:r>
              <a:t>```</a:t>
            </a:r>
          </a:p>
          <a:p>
            <a:pPr>
              <a:spcAft>
                <a:spcPts val="600"/>
              </a:spcAft>
              <a:defRPr sz="1800"/>
            </a:pPr>
            <a:r>
              <a:t>Snowflake Schemas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Execute SQL scripts in setup/schemas/</a:t>
            </a:r>
          </a:p>
          <a:p>
            <a:pPr>
              <a:spcAft>
                <a:spcPts val="600"/>
              </a:spcAft>
              <a:defRPr sz="1800"/>
            </a:pPr>
            <a:r>
              <a:t>Or use the master script: @setup/schemas/create_tpcds_objects.sql</a:t>
            </a:r>
          </a:p>
          <a:p>
            <a:pPr>
              <a:spcAft>
                <a:spcPts val="600"/>
              </a:spcAft>
              <a:defRPr sz="1800"/>
            </a:pPr>
            <a:r>
              <a:t>Glue Tables (only for Iceberg Glue format)</a:t>
            </a:r>
          </a:p>
          <a:p>
            <a:pPr>
              <a:spcAft>
                <a:spcPts val="800"/>
              </a:spcAft>
              <a:defRPr sz="1600"/>
            </a:pPr>
            <a:r>
              <a:t>```bash</a:t>
            </a:r>
          </a:p>
          <a:p>
            <a:pPr>
              <a:spcAft>
                <a:spcPts val="800"/>
              </a:spcAft>
              <a:defRPr sz="1600"/>
            </a:pPr>
            <a:r>
              <a:t>cd setup/glue/</a:t>
            </a:r>
          </a:p>
          <a:p>
            <a:pPr>
              <a:spcAft>
                <a:spcPts val="800"/>
              </a:spcAft>
              <a:defRPr sz="1600"/>
            </a:pPr>
            <a:r>
              <a:t>python scripts/create/create_glue_tables.py</a:t>
            </a:r>
          </a:p>
          <a:p>
            <a:pPr>
              <a:spcAft>
                <a:spcPts val="800"/>
              </a:spcAft>
              <a:defRPr sz="1600"/>
            </a:pPr>
            <a:r>
              <a:t>```</a:t>
            </a:r>
          </a:p>
          <a:p>
            <a:pPr>
              <a:spcAft>
                <a:spcPts val="600"/>
              </a:spcAft>
              <a:defRPr sz="1800"/>
            </a:pPr>
            <a:r>
              <a:t>Data Loading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```bash</a:t>
            </a:r>
          </a:p>
          <a:p>
            <a:pPr>
              <a:spcAft>
                <a:spcPts val="800"/>
              </a:spcAft>
              <a:defRPr sz="1600"/>
            </a:pPr>
            <a:r>
              <a:t>cd setup/data/</a:t>
            </a:r>
          </a:p>
          <a:p>
            <a:pPr>
              <a:spcAft>
                <a:spcPts val="800"/>
              </a:spcAft>
              <a:defRPr sz="1600"/>
            </a:pPr>
            <a:r>
              <a:t>python main.py --action full --scale-factor 0.1</a:t>
            </a:r>
          </a:p>
          <a:p>
            <a:pPr>
              <a:spcAft>
                <a:spcPts val="800"/>
              </a:spcAft>
              <a:defRPr sz="1600"/>
            </a:pPr>
            <a:r>
              <a:t>```</a:t>
            </a:r>
          </a:p>
          <a:p>
            <a:pPr>
              <a:spcAft>
                <a:spcPts val="800"/>
              </a:spcAft>
              <a:defRPr sz="1600"/>
            </a:pPr>
            <a:r>
              <a:t>Note: For a quick demo, you can skip full infrastructure setup and use test mode with existing data.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Start - Test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For a demonstration or quick validation, use test mode which runs a limited set of queries: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Overview of Load environment variables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quick test (5 queries per format)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Overview of Run quick test (5 queries per format)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Test - All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For comprehensive benchmarking: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all 99 queries across all 4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Overview of Run all 99 queries across all 4 formats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Test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#### Test Specific Formats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only Native and Iceberg Snowflake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Overview of Test only Native and Iceberg Snowflake formats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queries 1-20 (Reporting queries)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Overview of Test queries 1-20 (Reporting queries)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custom configuration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Overview of Use custom configuration file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Command-Line Options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200">
                <a:latin typeface="Courier New"/>
              </a:defRPr>
            </a:pPr>
            <a:r>
              <a:t>python benchmark/src/main.py [OPTIONS]</a:t>
            </a:r>
            <a:br/>
            <a:r>
              <a:t>Options:</a:t>
            </a:r>
            <a:br/>
            <a:r>
              <a:t>  --test-mode              Run in test mode (limited queries, faster)</a:t>
            </a:r>
            <a:br/>
            <a:r>
              <a:t>  --formats FORMATS        Test specific formats (space-separated)</a:t>
            </a:r>
            <a:br/>
            <a:r>
              <a:t>  --query-range START END  Test specific query range</a:t>
            </a:r>
            <a:br/>
            <a:r>
              <a:t>  --config PATH            Use custom configuration file</a:t>
            </a:r>
            <a:br/>
            <a:r>
              <a:t>  --help                   Show help message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Edit benchmark/config/perf_test_config.yaml to customize:</a:t>
            </a:r>
          </a:p>
          <a:p>
            <a:pPr>
              <a:spcAft>
                <a:spcPts val="600"/>
              </a:spcAft>
              <a:defRPr sz="1800"/>
            </a:pPr>
            <a:r>
              <a:t>Test Modes: Quick, standard, comprehensive, stress</a:t>
            </a:r>
          </a:p>
          <a:p>
            <a:pPr>
              <a:spcAft>
                <a:spcPts val="600"/>
              </a:spcAft>
              <a:defRPr sz="1800"/>
            </a:pPr>
            <a:r>
              <a:t>Performance Thresholds: Max execution time, memory limits</a:t>
            </a:r>
          </a:p>
          <a:p>
            <a:pPr>
              <a:spcAft>
                <a:spcPts val="600"/>
              </a:spcAft>
              <a:defRPr sz="1800"/>
            </a:pPr>
            <a:r>
              <a:t>Reporting Options: HTML, JSON, CSV, PDF generation</a:t>
            </a:r>
          </a:p>
          <a:p>
            <a:pPr>
              <a:spcAft>
                <a:spcPts val="600"/>
              </a:spcAft>
              <a:defRPr sz="1800"/>
            </a:pPr>
            <a:r>
              <a:t>Query Settings: Timeouts, caching, safety limits</a:t>
            </a:r>
          </a:p>
          <a:p>
            <a:pPr>
              <a:spcAft>
                <a:spcPts val="600"/>
              </a:spcAft>
              <a:defRPr sz="1800"/>
            </a:pPr>
            <a:r>
              <a:t>Cost Pricing: Snowflake credits, AWS pricing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When you run the benchmark, here's what happens:</a:t>
            </a:r>
          </a:p>
          <a:p>
            <a:pPr>
              <a:spcAft>
                <a:spcPts val="600"/>
              </a:spcAft>
              <a:defRPr sz="1800"/>
            </a:pPr>
            <a:r>
              <a:t>Initialization</a:t>
            </a:r>
          </a:p>
          <a:p>
            <a:pPr>
              <a:spcAft>
                <a:spcPts val="600"/>
              </a:spcAft>
              <a:defRPr sz="1800"/>
            </a:pPr>
            <a:r>
              <a:t>Loads configuration</a:t>
            </a:r>
          </a:p>
          <a:p>
            <a:pPr>
              <a:spcAft>
                <a:spcPts val="600"/>
              </a:spcAft>
              <a:defRPr sz="1800"/>
            </a:pPr>
            <a:r>
              <a:t>Connects to Snowflake</a:t>
            </a:r>
          </a:p>
          <a:p>
            <a:pPr>
              <a:spcAft>
                <a:spcPts val="600"/>
              </a:spcAft>
              <a:defRPr sz="1800"/>
            </a:pPr>
            <a:r>
              <a:t>Validates environment</a:t>
            </a:r>
          </a:p>
          <a:p>
            <a:pPr>
              <a:spcAft>
                <a:spcPts val="600"/>
              </a:spcAft>
              <a:defRPr sz="1800"/>
            </a:pPr>
            <a:r>
              <a:t>Query Execution (per format)</a:t>
            </a:r>
          </a:p>
          <a:p>
            <a:pPr>
              <a:spcAft>
                <a:spcPts val="600"/>
              </a:spcAft>
              <a:defRPr sz="1800"/>
            </a:pPr>
            <a:r>
              <a:t>For each query:</a:t>
            </a:r>
          </a:p>
          <a:p>
            <a:pPr>
              <a:spcAft>
                <a:spcPts val="600"/>
              </a:spcAft>
              <a:defRPr sz="1800"/>
            </a:pPr>
            <a:r>
              <a:t>Warmup run(s) to prime caches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Test run(s) with metrics collection</a:t>
            </a:r>
          </a:p>
          <a:p>
            <a:pPr>
              <a:spcAft>
                <a:spcPts val="600"/>
              </a:spcAft>
              <a:defRPr sz="1800"/>
            </a:pPr>
            <a:r>
              <a:t>Error handling and retries</a:t>
            </a:r>
          </a:p>
          <a:p>
            <a:pPr>
              <a:spcAft>
                <a:spcPts val="600"/>
              </a:spcAft>
              <a:defRPr sz="1800"/>
            </a:pPr>
            <a:r>
              <a:t>Metrics storage</a:t>
            </a:r>
          </a:p>
          <a:p>
            <a:pPr>
              <a:spcAft>
                <a:spcPts val="600"/>
              </a:spcAft>
              <a:defRPr sz="1800"/>
            </a:pPr>
            <a:r>
              <a:t>Metrics Collection</a:t>
            </a:r>
          </a:p>
          <a:p>
            <a:pPr>
              <a:spcAft>
                <a:spcPts val="600"/>
              </a:spcAft>
              <a:defRPr sz="1800"/>
            </a:pPr>
            <a:r>
              <a:t>Execution time</a:t>
            </a:r>
          </a:p>
          <a:p>
            <a:pPr>
              <a:spcAft>
                <a:spcPts val="600"/>
              </a:spcAft>
              <a:defRPr sz="1800"/>
            </a:pPr>
            <a:r>
              <a:t>Data scanned (bytes)</a:t>
            </a:r>
          </a:p>
          <a:p>
            <a:pPr>
              <a:spcAft>
                <a:spcPts val="600"/>
              </a:spcAft>
              <a:defRPr sz="1800"/>
            </a:pPr>
            <a:r>
              <a:t>Rows produced</a:t>
            </a:r>
          </a:p>
          <a:p>
            <a:pPr>
              <a:spcAft>
                <a:spcPts val="600"/>
              </a:spcAft>
              <a:defRPr sz="1800"/>
            </a:pPr>
            <a:r>
              <a:t>Cache hit ratio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Credits used</a:t>
            </a:r>
          </a:p>
          <a:p>
            <a:pPr>
              <a:spcAft>
                <a:spcPts val="600"/>
              </a:spcAft>
              <a:defRPr sz="1800"/>
            </a:pPr>
            <a:r>
              <a:t>Memory usage</a:t>
            </a:r>
          </a:p>
          <a:p>
            <a:pPr>
              <a:spcAft>
                <a:spcPts val="600"/>
              </a:spcAft>
              <a:defRPr sz="1800"/>
            </a:pPr>
            <a:r>
              <a:t>Cost calculations</a:t>
            </a:r>
          </a:p>
          <a:p>
            <a:pPr>
              <a:spcAft>
                <a:spcPts val="600"/>
              </a:spcAft>
              <a:defRPr sz="1800"/>
            </a:pPr>
            <a:r>
              <a:t>Analysis and Reporting</a:t>
            </a:r>
          </a:p>
          <a:p>
            <a:pPr>
              <a:spcAft>
                <a:spcPts val="600"/>
              </a:spcAft>
              <a:defRPr sz="1800"/>
            </a:pPr>
            <a:r>
              <a:t>Statistical analysis</a:t>
            </a:r>
          </a:p>
          <a:p>
            <a:pPr>
              <a:spcAft>
                <a:spcPts val="600"/>
              </a:spcAft>
              <a:defRPr sz="1800"/>
            </a:pPr>
            <a:r>
              <a:t>Format comparison</a:t>
            </a:r>
          </a:p>
          <a:p>
            <a:pPr>
              <a:spcAft>
                <a:spcPts val="600"/>
              </a:spcAft>
              <a:defRPr sz="1800"/>
            </a:pPr>
            <a:r>
              <a:t>Cost analysis</a:t>
            </a:r>
          </a:p>
          <a:p>
            <a:pPr>
              <a:spcAft>
                <a:spcPts val="600"/>
              </a:spcAft>
              <a:defRPr sz="1800"/>
            </a:pPr>
            <a:r>
              <a:t>Report generation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The benchmark provides real-time progress updates:</a:t>
            </a:r>
          </a:p>
          <a:p>
            <a:pPr>
              <a:spcAft>
                <a:spcPts val="800"/>
              </a:spcAft>
              <a:defRPr sz="1200">
                <a:latin typeface="Courier New"/>
              </a:defRPr>
            </a:pPr>
            <a:r>
              <a:t>[INFO] Starting performance test...</a:t>
            </a:r>
            <a:br/>
            <a:r>
              <a:t>[INFO] Testing format: native</a:t>
            </a:r>
            <a:br/>
            <a:r>
              <a:t>[INFO] Executing query 1/99: q01.sql</a:t>
            </a:r>
            <a:br/>
            <a:r>
              <a:t>[INFO] Query 1 completed in 2.3s</a:t>
            </a:r>
            <a:br/>
            <a:r>
              <a:t>[INFO] Executing query 2/99: q02.sql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Logs are saved to benchmark/logs/tpcds_perf_test.log for detailed tracking.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All results are saved to the results/ directory:</a:t>
            </a:r>
          </a:p>
          <a:p>
            <a:pPr>
              <a:spcAft>
                <a:spcPts val="800"/>
              </a:spcAft>
              <a:defRPr sz="1200">
                <a:latin typeface="Courier New"/>
              </a:defRPr>
            </a:pPr>
            <a:r>
              <a:t>results/</a:t>
            </a:r>
            <a:br/>
            <a:r>
              <a:t>├── performance_data/          # Raw performance metrics</a:t>
            </a:r>
            <a:br/>
            <a:r>
              <a:t>│   └── tpcds_performance_data_TIMESTAMP.csv</a:t>
            </a:r>
            <a:br/>
            <a:r>
              <a:t>├── reports/                   # Generated reports</a:t>
            </a:r>
            <a:br/>
            <a:r>
              <a:t>│   └── tpcds_performance_report_TIMESTAMP.html</a:t>
            </a:r>
            <a:br/>
            <a:r>
              <a:t>├── tpcds_performance_report_TIMESTAMP.json</a:t>
            </a:r>
            <a:br/>
            <a:r>
              <a:t>└── tpcds_analytics_TIMESTAMP.json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#### 1. HTML Reports (Interactive)</a:t>
            </a:r>
          </a:p>
          <a:p>
            <a:pPr>
              <a:spcAft>
                <a:spcPts val="800"/>
              </a:spcAft>
              <a:defRPr sz="1600"/>
            </a:pPr>
            <a:r>
              <a:t>Location: results/reports/tpcds_performance_report_TIMESTAMP.html</a:t>
            </a:r>
          </a:p>
          <a:p>
            <a:pPr>
              <a:spcAft>
                <a:spcPts val="800"/>
              </a:spcAft>
              <a:defRPr sz="1600"/>
            </a:pPr>
            <a:r>
              <a:t>Features:</a:t>
            </a:r>
          </a:p>
          <a:p>
            <a:pPr>
              <a:spcAft>
                <a:spcPts val="600"/>
              </a:spcAft>
              <a:defRPr sz="1800"/>
            </a:pPr>
            <a:r>
              <a:t>Interactive performance charts</a:t>
            </a:r>
          </a:p>
          <a:p>
            <a:pPr>
              <a:spcAft>
                <a:spcPts val="600"/>
              </a:spcAft>
              <a:defRPr sz="1800"/>
            </a:pPr>
            <a:r>
              <a:t>Format comparison tables</a:t>
            </a:r>
          </a:p>
          <a:p>
            <a:pPr>
              <a:spcAft>
                <a:spcPts val="600"/>
              </a:spcAft>
              <a:defRPr sz="1800"/>
            </a:pPr>
            <a:r>
              <a:t>Query performance rankings</a:t>
            </a:r>
          </a:p>
          <a:p>
            <a:pPr>
              <a:spcAft>
                <a:spcPts val="600"/>
              </a:spcAft>
              <a:defRPr sz="1800"/>
            </a:pPr>
            <a:r>
              <a:t>Success rate analysis</a:t>
            </a:r>
          </a:p>
          <a:p>
            <a:pPr>
              <a:spcAft>
                <a:spcPts val="600"/>
              </a:spcAft>
              <a:defRPr sz="1800"/>
            </a:pPr>
            <a:r>
              <a:t>Cost breakdowns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Visual format comparisons</a:t>
            </a:r>
          </a:p>
          <a:p>
            <a:pPr>
              <a:spcAft>
                <a:spcPts val="800"/>
              </a:spcAft>
              <a:defRPr sz="1600"/>
            </a:pPr>
            <a:r>
              <a:t>How to View: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in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Overview of Open in browser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#### Performance Metrics</a:t>
            </a:r>
          </a:p>
          <a:p>
            <a:pPr>
              <a:spcAft>
                <a:spcPts val="600"/>
              </a:spcAft>
              <a:defRPr sz="1800"/>
            </a:pPr>
            <a:r>
              <a:t>Execution Time (seconds)</a:t>
            </a:r>
          </a:p>
          <a:p>
            <a:pPr>
              <a:spcAft>
                <a:spcPts val="600"/>
              </a:spcAft>
              <a:defRPr sz="1800"/>
            </a:pPr>
            <a:r>
              <a:t>Time to complete query execution</a:t>
            </a:r>
          </a:p>
          <a:p>
            <a:pPr>
              <a:spcAft>
                <a:spcPts val="600"/>
              </a:spcAft>
              <a:defRPr sz="1800"/>
            </a:pPr>
            <a:r>
              <a:t>Lower is better</a:t>
            </a:r>
          </a:p>
          <a:p>
            <a:pPr>
              <a:spcAft>
                <a:spcPts val="600"/>
              </a:spcAft>
              <a:defRPr sz="1800"/>
            </a:pPr>
            <a:r>
              <a:t>Includes query compilation and execution</a:t>
            </a:r>
          </a:p>
          <a:p>
            <a:pPr>
              <a:spcAft>
                <a:spcPts val="600"/>
              </a:spcAft>
              <a:defRPr sz="1800"/>
            </a:pPr>
            <a:r>
              <a:t>Data Scanned (bytes)</a:t>
            </a:r>
          </a:p>
          <a:p>
            <a:pPr>
              <a:spcAft>
                <a:spcPts val="600"/>
              </a:spcAft>
              <a:defRPr sz="1800"/>
            </a:pPr>
            <a:r>
              <a:t>Amount of data read from storage</a:t>
            </a:r>
          </a:p>
          <a:p>
            <a:pPr>
              <a:spcAft>
                <a:spcPts val="600"/>
              </a:spcAft>
              <a:defRPr sz="1800"/>
            </a:pPr>
            <a:r>
              <a:t>Indicates query efficiency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Lower is better (with same results)</a:t>
            </a:r>
          </a:p>
          <a:p>
            <a:pPr>
              <a:spcAft>
                <a:spcPts val="600"/>
              </a:spcAft>
              <a:defRPr sz="1800"/>
            </a:pPr>
            <a:r>
              <a:t>Rows Produced</a:t>
            </a:r>
          </a:p>
          <a:p>
            <a:pPr>
              <a:spcAft>
                <a:spcPts val="600"/>
              </a:spcAft>
              <a:defRPr sz="1800"/>
            </a:pPr>
            <a:r>
              <a:t>Number of result rows</a:t>
            </a:r>
          </a:p>
          <a:p>
            <a:pPr>
              <a:spcAft>
                <a:spcPts val="600"/>
              </a:spcAft>
              <a:defRPr sz="1800"/>
            </a:pPr>
            <a:r>
              <a:t>Validates query correctness</a:t>
            </a:r>
          </a:p>
          <a:p>
            <a:pPr>
              <a:spcAft>
                <a:spcPts val="600"/>
              </a:spcAft>
              <a:defRPr sz="1800"/>
            </a:pPr>
            <a:r>
              <a:t>Should match across formats</a:t>
            </a:r>
          </a:p>
          <a:p>
            <a:pPr>
              <a:spcAft>
                <a:spcPts val="600"/>
              </a:spcAft>
              <a:defRPr sz="1800"/>
            </a:pPr>
            <a:r>
              <a:t>Cache Hit Ratio (%)</a:t>
            </a:r>
          </a:p>
          <a:p>
            <a:pPr>
              <a:spcAft>
                <a:spcPts val="600"/>
              </a:spcAft>
              <a:defRPr sz="1800"/>
            </a:pPr>
            <a:r>
              <a:t>Percentage of data served from cache</a:t>
            </a:r>
          </a:p>
          <a:p>
            <a:pPr>
              <a:spcAft>
                <a:spcPts val="600"/>
              </a:spcAft>
              <a:defRPr sz="1800"/>
            </a:pPr>
            <a:r>
              <a:t>Higher is better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Indicates query pattern efficiency</a:t>
            </a:r>
          </a:p>
          <a:p>
            <a:pPr>
              <a:spcAft>
                <a:spcPts val="800"/>
              </a:spcAft>
              <a:defRPr sz="1600"/>
            </a:pPr>
            <a:r>
              <a:t>#### Cost Metrics</a:t>
            </a:r>
          </a:p>
          <a:p>
            <a:pPr>
              <a:spcAft>
                <a:spcPts val="600"/>
              </a:spcAft>
              <a:defRPr sz="1800"/>
            </a:pPr>
            <a:r>
              <a:t>Compute Credits</a:t>
            </a:r>
          </a:p>
          <a:p>
            <a:pPr>
              <a:spcAft>
                <a:spcPts val="600"/>
              </a:spcAft>
              <a:defRPr sz="1800"/>
            </a:pPr>
            <a:r>
              <a:t>Snowflake compute credits consumed</a:t>
            </a:r>
          </a:p>
          <a:p>
            <a:pPr>
              <a:spcAft>
                <a:spcPts val="600"/>
              </a:spcAft>
              <a:defRPr sz="1800"/>
            </a:pPr>
            <a:r>
              <a:t>Based on warehouse size × execution time</a:t>
            </a:r>
          </a:p>
          <a:p>
            <a:pPr>
              <a:spcAft>
                <a:spcPts val="600"/>
              </a:spcAft>
              <a:defRPr sz="1800"/>
            </a:pPr>
            <a:r>
              <a:t>Formula: (Warehouse Multiplier × Seconds) / 3600</a:t>
            </a:r>
          </a:p>
          <a:p>
            <a:pPr>
              <a:spcAft>
                <a:spcPts val="600"/>
              </a:spcAft>
              <a:defRPr sz="1800"/>
            </a:pPr>
            <a:r>
              <a:t>Compute Cost (USD)</a:t>
            </a:r>
          </a:p>
          <a:p>
            <a:pPr>
              <a:spcAft>
                <a:spcPts val="600"/>
              </a:spcAft>
              <a:defRPr sz="1800"/>
            </a:pPr>
            <a:r>
              <a:t>Cost based on credits × credit price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Default: $3 per credit</a:t>
            </a:r>
          </a:p>
          <a:p>
            <a:pPr>
              <a:spcAft>
                <a:spcPts val="600"/>
              </a:spcAft>
              <a:defRPr sz="1800"/>
            </a:pPr>
            <a:r>
              <a:t>Storage Cost (USD)</a:t>
            </a:r>
          </a:p>
          <a:p>
            <a:pPr>
              <a:spcAft>
                <a:spcPts val="600"/>
              </a:spcAft>
              <a:defRPr sz="1800"/>
            </a:pPr>
            <a:r>
              <a:t>Snowflake storage costs (Native format)</a:t>
            </a:r>
          </a:p>
          <a:p>
            <a:pPr>
              <a:spcAft>
                <a:spcPts val="600"/>
              </a:spcAft>
              <a:defRPr sz="1800"/>
            </a:pPr>
            <a:r>
              <a:t>S3 storage costs (External formats)</a:t>
            </a:r>
          </a:p>
          <a:p>
            <a:pPr>
              <a:spcAft>
                <a:spcPts val="600"/>
              </a:spcAft>
              <a:defRPr sz="1800"/>
            </a:pPr>
            <a:r>
              <a:t>Based on data volume and storage class</a:t>
            </a:r>
          </a:p>
          <a:p>
            <a:pPr>
              <a:spcAft>
                <a:spcPts val="600"/>
              </a:spcAft>
              <a:defRPr sz="1800"/>
            </a:pPr>
            <a:r>
              <a:t>Total Cost (USD)</a:t>
            </a:r>
          </a:p>
          <a:p>
            <a:pPr>
              <a:spcAft>
                <a:spcPts val="600"/>
              </a:spcAft>
              <a:defRPr sz="1800"/>
            </a:pPr>
            <a:r>
              <a:t>Sum of all cost components</a:t>
            </a:r>
          </a:p>
          <a:p>
            <a:pPr>
              <a:spcAft>
                <a:spcPts val="600"/>
              </a:spcAft>
              <a:defRPr sz="1800"/>
            </a:pPr>
            <a:r>
              <a:t>Includes compute, storage, S3 requests, Glue API calls, data transfer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#### Warehouse Metrics</a:t>
            </a:r>
          </a:p>
          <a:p>
            <a:pPr>
              <a:spcAft>
                <a:spcPts val="600"/>
              </a:spcAft>
              <a:defRPr sz="1800"/>
            </a:pPr>
            <a:r>
              <a:t>Warehouse Size: X-Small (1x) through 4X-Large (128x)</a:t>
            </a:r>
          </a:p>
          <a:p>
            <a:pPr>
              <a:spcAft>
                <a:spcPts val="600"/>
              </a:spcAft>
              <a:defRPr sz="1800"/>
            </a:pPr>
            <a:r>
              <a:t>Warehouse Multiplier: Credit consumption multiplier</a:t>
            </a:r>
          </a:p>
          <a:p>
            <a:pPr>
              <a:spcAft>
                <a:spcPts val="600"/>
              </a:spcAft>
              <a:defRPr sz="1800"/>
            </a:pPr>
            <a:r>
              <a:t>Auto-suspend Time: Idle time before suspension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 Comparison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The reports provide several comparison views:</a:t>
            </a:r>
          </a:p>
          <a:p>
            <a:pPr>
              <a:spcAft>
                <a:spcPts val="600"/>
              </a:spcAft>
              <a:defRPr sz="1800"/>
            </a:pPr>
            <a:r>
              <a:t>Overall Performance Ranking</a:t>
            </a:r>
          </a:p>
          <a:p>
            <a:pPr>
              <a:spcAft>
                <a:spcPts val="600"/>
              </a:spcAft>
              <a:defRPr sz="1800"/>
            </a:pPr>
            <a:r>
              <a:t>Which format is fastest overall</a:t>
            </a:r>
          </a:p>
          <a:p>
            <a:pPr>
              <a:spcAft>
                <a:spcPts val="600"/>
              </a:spcAft>
              <a:defRPr sz="1800"/>
            </a:pPr>
            <a:r>
              <a:t>Performance by query category</a:t>
            </a:r>
          </a:p>
          <a:p>
            <a:pPr>
              <a:spcAft>
                <a:spcPts val="600"/>
              </a:spcAft>
              <a:defRPr sz="1800"/>
            </a:pPr>
            <a:r>
              <a:t>Consistency across query types</a:t>
            </a:r>
          </a:p>
          <a:p>
            <a:pPr>
              <a:spcAft>
                <a:spcPts val="600"/>
              </a:spcAft>
              <a:defRPr sz="1800"/>
            </a:pPr>
            <a:r>
              <a:t>Cost Comparison</a:t>
            </a:r>
          </a:p>
          <a:p>
            <a:pPr>
              <a:spcAft>
                <a:spcPts val="600"/>
              </a:spcAft>
              <a:defRPr sz="1800"/>
            </a:pPr>
            <a:r>
              <a:t>Total cost per format</a:t>
            </a:r>
          </a:p>
          <a:p>
            <a:pPr>
              <a:spcAft>
                <a:spcPts val="600"/>
              </a:spcAft>
              <a:defRPr sz="1800"/>
            </a:pPr>
            <a:r>
              <a:t>Cost per query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 Comparison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Cost-performance ratio</a:t>
            </a:r>
          </a:p>
          <a:p>
            <a:pPr>
              <a:spcAft>
                <a:spcPts val="600"/>
              </a:spcAft>
              <a:defRPr sz="1800"/>
            </a:pPr>
            <a:r>
              <a:t>Query-Specific Analysis</a:t>
            </a:r>
          </a:p>
          <a:p>
            <a:pPr>
              <a:spcAft>
                <a:spcPts val="600"/>
              </a:spcAft>
              <a:defRPr sz="1800"/>
            </a:pPr>
            <a:r>
              <a:t>Which format performs best for specific queries</a:t>
            </a:r>
          </a:p>
          <a:p>
            <a:pPr>
              <a:spcAft>
                <a:spcPts val="600"/>
              </a:spcAft>
              <a:defRPr sz="1800"/>
            </a:pPr>
            <a:r>
              <a:t>Query patterns that favor certain formats</a:t>
            </a:r>
          </a:p>
          <a:p>
            <a:pPr>
              <a:spcAft>
                <a:spcPts val="600"/>
              </a:spcAft>
              <a:defRPr sz="1800"/>
            </a:pPr>
            <a:r>
              <a:t>Optimization opportunities</a:t>
            </a:r>
          </a:p>
          <a:p>
            <a:pPr>
              <a:spcAft>
                <a:spcPts val="600"/>
              </a:spcAft>
              <a:defRPr sz="1800"/>
            </a:pPr>
            <a:r>
              <a:t>Statistical Analysis</a:t>
            </a:r>
          </a:p>
          <a:p>
            <a:pPr>
              <a:spcAft>
                <a:spcPts val="600"/>
              </a:spcAft>
              <a:defRPr sz="1800"/>
            </a:pPr>
            <a:r>
              <a:t>ANOVA tests for format differences</a:t>
            </a:r>
          </a:p>
          <a:p>
            <a:pPr>
              <a:spcAft>
                <a:spcPts val="600"/>
              </a:spcAft>
              <a:defRPr sz="1800"/>
            </a:pPr>
            <a:r>
              <a:t>Confidence intervals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 Comparison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Effect sizes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#### Performance Winners</a:t>
            </a:r>
          </a:p>
          <a:p>
            <a:pPr>
              <a:spcAft>
                <a:spcPts val="800"/>
              </a:spcAft>
              <a:defRPr sz="1600"/>
            </a:pPr>
            <a:r>
              <a:t>Look for:</a:t>
            </a:r>
          </a:p>
          <a:p>
            <a:pPr>
              <a:spcAft>
                <a:spcPts val="600"/>
              </a:spcAft>
              <a:defRPr sz="1800"/>
            </a:pPr>
            <a:r>
              <a:t>Fastest Average Execution Time: Best overall performance</a:t>
            </a:r>
          </a:p>
          <a:p>
            <a:pPr>
              <a:spcAft>
                <a:spcPts val="600"/>
              </a:spcAft>
              <a:defRPr sz="1800"/>
            </a:pPr>
            <a:r>
              <a:t>Most Consistent Performance: Lowest standard deviation</a:t>
            </a:r>
          </a:p>
          <a:p>
            <a:pPr>
              <a:spcAft>
                <a:spcPts val="600"/>
              </a:spcAft>
              <a:defRPr sz="1800"/>
            </a:pPr>
            <a:r>
              <a:t>Best Cache Utilization: Highest cache hit ratios</a:t>
            </a:r>
          </a:p>
          <a:p>
            <a:pPr>
              <a:spcAft>
                <a:spcPts val="600"/>
              </a:spcAft>
              <a:defRPr sz="1800"/>
            </a:pPr>
            <a:r>
              <a:t>Best for Specific Query Types: Format-specific strengths</a:t>
            </a:r>
          </a:p>
          <a:p>
            <a:pPr>
              <a:spcAft>
                <a:spcPts val="800"/>
              </a:spcAft>
              <a:defRPr sz="1600"/>
            </a:pPr>
            <a:r>
              <a:t>#### Cost Winners</a:t>
            </a:r>
          </a:p>
          <a:p>
            <a:pPr>
              <a:spcAft>
                <a:spcPts val="800"/>
              </a:spcAft>
              <a:defRPr sz="1600"/>
            </a:pPr>
            <a:r>
              <a:t>Look for: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Lowest Total Cost: Most cost-effective format</a:t>
            </a:r>
          </a:p>
          <a:p>
            <a:pPr>
              <a:spcAft>
                <a:spcPts val="600"/>
              </a:spcAft>
              <a:defRPr sz="1800"/>
            </a:pPr>
            <a:r>
              <a:t>Best Cost-Performance Ratio: Best value</a:t>
            </a:r>
          </a:p>
          <a:p>
            <a:pPr>
              <a:spcAft>
                <a:spcPts val="600"/>
              </a:spcAft>
              <a:defRPr sz="1800"/>
            </a:pPr>
            <a:r>
              <a:t>Lowest Compute Costs: Most efficient warehouse usage</a:t>
            </a:r>
          </a:p>
          <a:p>
            <a:pPr>
              <a:spcAft>
                <a:spcPts val="600"/>
              </a:spcAft>
              <a:defRPr sz="1800"/>
            </a:pPr>
            <a:r>
              <a:t>Lowest Storage Costs: Most efficient storage utilization</a:t>
            </a:r>
          </a:p>
          <a:p>
            <a:pPr>
              <a:spcAft>
                <a:spcPts val="800"/>
              </a:spcAft>
              <a:defRPr sz="1600"/>
            </a:pPr>
            <a:r>
              <a:t>#### Trade-offs</a:t>
            </a:r>
          </a:p>
          <a:p>
            <a:pPr>
              <a:spcAft>
                <a:spcPts val="800"/>
              </a:spcAft>
              <a:defRPr sz="1600"/>
            </a:pPr>
            <a:r>
              <a:t>Consider:</a:t>
            </a:r>
          </a:p>
          <a:p>
            <a:pPr>
              <a:spcAft>
                <a:spcPts val="600"/>
              </a:spcAft>
              <a:defRPr sz="1800"/>
            </a:pPr>
            <a:r>
              <a:t>Performance vs. Cost: Faster formats may cost more</a:t>
            </a:r>
          </a:p>
          <a:p>
            <a:pPr>
              <a:spcAft>
                <a:spcPts val="600"/>
              </a:spcAft>
              <a:defRPr sz="1800"/>
            </a:pPr>
            <a:r>
              <a:t>Features vs. Performance: More features may impact performance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Compatibility vs. Optimization: Cross-platform may sacrifice optimization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Results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Scenario: Native format is 20% faster but 30% more expensive than External format.</a:t>
            </a:r>
          </a:p>
          <a:p>
            <a:pPr>
              <a:spcAft>
                <a:spcPts val="800"/>
              </a:spcAft>
              <a:defRPr sz="1600"/>
            </a:pPr>
            <a:r>
              <a:t>Insights:</a:t>
            </a:r>
          </a:p>
          <a:p>
            <a:pPr>
              <a:spcAft>
                <a:spcPts val="600"/>
              </a:spcAft>
              <a:defRPr sz="1800"/>
            </a:pPr>
            <a:r>
              <a:t>Native provides better performance for time-sensitive workloads</a:t>
            </a:r>
          </a:p>
          <a:p>
            <a:pPr>
              <a:spcAft>
                <a:spcPts val="600"/>
              </a:spcAft>
              <a:defRPr sz="1800"/>
            </a:pPr>
            <a:r>
              <a:t>External provides better cost efficiency for batch workloads</a:t>
            </a:r>
          </a:p>
          <a:p>
            <a:pPr>
              <a:spcAft>
                <a:spcPts val="600"/>
              </a:spcAft>
              <a:defRPr sz="1800"/>
            </a:pPr>
            <a:r>
              <a:t>Decision depends on performance requirements vs. budget constraints</a:t>
            </a:r>
          </a:p>
          <a:p>
            <a:pPr>
              <a:spcAft>
                <a:spcPts val="800"/>
              </a:spcAft>
              <a:defRPr sz="1600"/>
            </a:pPr>
            <a:r>
              <a:t>Recommendation: Use Native for real-time dashboards, External for batch reporting.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This benchmark provides quantifiable, data-driven insights for critical architectural decisions:</a:t>
            </a:r>
          </a:p>
          <a:p>
            <a:pPr>
              <a:spcAft>
                <a:spcPts val="600"/>
              </a:spcAft>
              <a:defRPr sz="1800"/>
            </a:pPr>
            <a:r>
              <a:t>Risk Mitigation</a:t>
            </a:r>
          </a:p>
          <a:p>
            <a:pPr>
              <a:spcAft>
                <a:spcPts val="600"/>
              </a:spcAft>
              <a:defRPr sz="1800"/>
            </a:pPr>
            <a:r>
              <a:t>Make informed decisions before committing to a format</a:t>
            </a:r>
          </a:p>
          <a:p>
            <a:pPr>
              <a:spcAft>
                <a:spcPts val="600"/>
              </a:spcAft>
              <a:defRPr sz="1800"/>
            </a:pPr>
            <a:r>
              <a:t>Avoid costly migrations due to poor initial choices</a:t>
            </a:r>
          </a:p>
          <a:p>
            <a:pPr>
              <a:spcAft>
                <a:spcPts val="600"/>
              </a:spcAft>
              <a:defRPr sz="1800"/>
            </a:pPr>
            <a:r>
              <a:t>Understand trade-offs before implementation</a:t>
            </a:r>
          </a:p>
          <a:p>
            <a:pPr>
              <a:spcAft>
                <a:spcPts val="600"/>
              </a:spcAft>
              <a:defRPr sz="1800"/>
            </a:pPr>
            <a:r>
              <a:t>Cost Optimization</a:t>
            </a:r>
          </a:p>
          <a:p>
            <a:pPr>
              <a:spcAft>
                <a:spcPts val="600"/>
              </a:spcAft>
              <a:defRPr sz="1800"/>
            </a:pPr>
            <a:r>
              <a:t>Identify cost savings opportunities</a:t>
            </a:r>
          </a:p>
          <a:p>
            <a:pPr>
              <a:spcAft>
                <a:spcPts val="600"/>
              </a:spcAft>
              <a:defRPr sz="1800"/>
            </a:pPr>
            <a:r>
              <a:t>Optimize warehouse sizing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Reduce total cost of ownership</a:t>
            </a:r>
          </a:p>
          <a:p>
            <a:pPr>
              <a:spcAft>
                <a:spcPts val="600"/>
              </a:spcAft>
              <a:defRPr sz="1800"/>
            </a:pPr>
            <a:r>
              <a:t>Performance Optimization</a:t>
            </a:r>
          </a:p>
          <a:p>
            <a:pPr>
              <a:spcAft>
                <a:spcPts val="600"/>
              </a:spcAft>
              <a:defRPr sz="1800"/>
            </a:pPr>
            <a:r>
              <a:t>Identify performance bottlenecks</a:t>
            </a:r>
          </a:p>
          <a:p>
            <a:pPr>
              <a:spcAft>
                <a:spcPts val="600"/>
              </a:spcAft>
              <a:defRPr sz="1800"/>
            </a:pPr>
            <a:r>
              <a:t>Optimize query patterns</a:t>
            </a:r>
          </a:p>
          <a:p>
            <a:pPr>
              <a:spcAft>
                <a:spcPts val="600"/>
              </a:spcAft>
              <a:defRPr sz="1800"/>
            </a:pPr>
            <a:r>
              <a:t>Right-size infrastructure</a:t>
            </a:r>
          </a:p>
          <a:p>
            <a:pPr>
              <a:spcAft>
                <a:spcPts val="600"/>
              </a:spcAft>
              <a:defRPr sz="1800"/>
            </a:pPr>
            <a:r>
              <a:t>Strategic Planning</a:t>
            </a:r>
          </a:p>
          <a:p>
            <a:pPr>
              <a:spcAft>
                <a:spcPts val="600"/>
              </a:spcAft>
              <a:defRPr sz="1800"/>
            </a:pPr>
            <a:r>
              <a:t>Plan migrations with confidence</a:t>
            </a:r>
          </a:p>
          <a:p>
            <a:pPr>
              <a:spcAft>
                <a:spcPts val="600"/>
              </a:spcAft>
              <a:defRPr sz="1800"/>
            </a:pPr>
            <a:r>
              <a:t>Evaluate new technologies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Support business case development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Insights Provided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The benchmark delivers comprehensive technical analysis:</a:t>
            </a:r>
          </a:p>
          <a:p>
            <a:pPr>
              <a:spcAft>
                <a:spcPts val="600"/>
              </a:spcAft>
              <a:defRPr sz="1800"/>
            </a:pPr>
            <a:r>
              <a:t>Performance Characteristics</a:t>
            </a:r>
          </a:p>
          <a:p>
            <a:pPr>
              <a:spcAft>
                <a:spcPts val="600"/>
              </a:spcAft>
              <a:defRPr sz="1800"/>
            </a:pPr>
            <a:r>
              <a:t>Query execution patterns</a:t>
            </a:r>
          </a:p>
          <a:p>
            <a:pPr>
              <a:spcAft>
                <a:spcPts val="600"/>
              </a:spcAft>
              <a:defRPr sz="1800"/>
            </a:pPr>
            <a:r>
              <a:t>Format-specific optimizations</a:t>
            </a:r>
          </a:p>
          <a:p>
            <a:pPr>
              <a:spcAft>
                <a:spcPts val="600"/>
              </a:spcAft>
              <a:defRPr sz="1800"/>
            </a:pPr>
            <a:r>
              <a:t>Cache behavior</a:t>
            </a:r>
          </a:p>
          <a:p>
            <a:pPr>
              <a:spcAft>
                <a:spcPts val="600"/>
              </a:spcAft>
              <a:defRPr sz="1800"/>
            </a:pPr>
            <a:r>
              <a:t>Resource utilization</a:t>
            </a:r>
          </a:p>
          <a:p>
            <a:pPr>
              <a:spcAft>
                <a:spcPts val="600"/>
              </a:spcAft>
              <a:defRPr sz="1800"/>
            </a:pPr>
            <a:r>
              <a:t>Scalability Analysis</a:t>
            </a:r>
          </a:p>
          <a:p>
            <a:pPr>
              <a:spcAft>
                <a:spcPts val="600"/>
              </a:spcAft>
              <a:defRPr sz="1800"/>
            </a:pPr>
            <a:r>
              <a:t>Performance at different data volumes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Insights Provided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Warehouse size optimization</a:t>
            </a:r>
          </a:p>
          <a:p>
            <a:pPr>
              <a:spcAft>
                <a:spcPts val="600"/>
              </a:spcAft>
              <a:defRPr sz="1800"/>
            </a:pPr>
            <a:r>
              <a:t>Concurrent query handling</a:t>
            </a:r>
          </a:p>
          <a:p>
            <a:pPr>
              <a:spcAft>
                <a:spcPts val="600"/>
              </a:spcAft>
              <a:defRPr sz="1800"/>
            </a:pPr>
            <a:r>
              <a:t>Cost Breakdown</a:t>
            </a:r>
          </a:p>
          <a:p>
            <a:pPr>
              <a:spcAft>
                <a:spcPts val="600"/>
              </a:spcAft>
              <a:defRPr sz="1800"/>
            </a:pPr>
            <a:r>
              <a:t>Component-level cost analysis</a:t>
            </a:r>
          </a:p>
          <a:p>
            <a:pPr>
              <a:spcAft>
                <a:spcPts val="600"/>
              </a:spcAft>
              <a:defRPr sz="1800"/>
            </a:pPr>
            <a:r>
              <a:t>Cost drivers identification</a:t>
            </a:r>
          </a:p>
          <a:p>
            <a:pPr>
              <a:spcAft>
                <a:spcPts val="600"/>
              </a:spcAft>
              <a:defRPr sz="1800"/>
            </a:pPr>
            <a:r>
              <a:t>Optimization opportunities</a:t>
            </a:r>
          </a:p>
          <a:p>
            <a:pPr>
              <a:spcAft>
                <a:spcPts val="600"/>
              </a:spcAft>
              <a:defRPr sz="1800"/>
            </a:pPr>
            <a:r>
              <a:t>Statistical Validity</a:t>
            </a:r>
          </a:p>
          <a:p>
            <a:pPr>
              <a:spcAft>
                <a:spcPts val="600"/>
              </a:spcAft>
              <a:defRPr sz="1800"/>
            </a:pPr>
            <a:r>
              <a:t>Multiple test runs for reliability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Insights Provided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Confidence intervals</a:t>
            </a:r>
          </a:p>
          <a:p>
            <a:pPr>
              <a:spcAft>
                <a:spcPts val="600"/>
              </a:spcAft>
              <a:defRPr sz="1800"/>
            </a:pPr>
            <a:r>
              <a:t>Statistical significance testing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The benchmark identifies specific optimization opportunities:</a:t>
            </a:r>
          </a:p>
          <a:p>
            <a:pPr>
              <a:spcAft>
                <a:spcPts val="600"/>
              </a:spcAft>
              <a:defRPr sz="1800"/>
            </a:pPr>
            <a:r>
              <a:t>Warehouse Sizing</a:t>
            </a:r>
          </a:p>
          <a:p>
            <a:pPr>
              <a:spcAft>
                <a:spcPts val="600"/>
              </a:spcAft>
              <a:defRPr sz="1800"/>
            </a:pPr>
            <a:r>
              <a:t>Right-size warehouses based on workload</a:t>
            </a:r>
          </a:p>
          <a:p>
            <a:pPr>
              <a:spcAft>
                <a:spcPts val="600"/>
              </a:spcAft>
              <a:defRPr sz="1800"/>
            </a:pPr>
            <a:r>
              <a:t>Balance performance vs. cost</a:t>
            </a:r>
          </a:p>
          <a:p>
            <a:pPr>
              <a:spcAft>
                <a:spcPts val="600"/>
              </a:spcAft>
              <a:defRPr sz="1800"/>
            </a:pPr>
            <a:r>
              <a:t>Optimize auto-suspend settings</a:t>
            </a:r>
          </a:p>
          <a:p>
            <a:pPr>
              <a:spcAft>
                <a:spcPts val="600"/>
              </a:spcAft>
              <a:defRPr sz="1800"/>
            </a:pPr>
            <a:r>
              <a:t>Query Optimization</a:t>
            </a:r>
          </a:p>
          <a:p>
            <a:pPr>
              <a:spcAft>
                <a:spcPts val="600"/>
              </a:spcAft>
              <a:defRPr sz="1800"/>
            </a:pPr>
            <a:r>
              <a:t>Identify slow queries</a:t>
            </a:r>
          </a:p>
          <a:p>
            <a:pPr>
              <a:spcAft>
                <a:spcPts val="600"/>
              </a:spcAft>
              <a:defRPr sz="1800"/>
            </a:pPr>
            <a:r>
              <a:t>Optimize data scanning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Improve cache utilization</a:t>
            </a:r>
          </a:p>
          <a:p>
            <a:pPr>
              <a:spcAft>
                <a:spcPts val="600"/>
              </a:spcAft>
              <a:defRPr sz="1800"/>
            </a:pPr>
            <a:r>
              <a:t>Format Selection</a:t>
            </a:r>
          </a:p>
          <a:p>
            <a:pPr>
              <a:spcAft>
                <a:spcPts val="600"/>
              </a:spcAft>
              <a:defRPr sz="1800"/>
            </a:pPr>
            <a:r>
              <a:t>Choose format based on workload</a:t>
            </a:r>
          </a:p>
          <a:p>
            <a:pPr>
              <a:spcAft>
                <a:spcPts val="600"/>
              </a:spcAft>
              <a:defRPr sz="1800"/>
            </a:pPr>
            <a:r>
              <a:t>Optimize for cost vs. performance</a:t>
            </a:r>
          </a:p>
          <a:p>
            <a:pPr>
              <a:spcAft>
                <a:spcPts val="600"/>
              </a:spcAft>
              <a:defRPr sz="1800"/>
            </a:pPr>
            <a:r>
              <a:t>Consider feature requirements</a:t>
            </a:r>
          </a:p>
          <a:p>
            <a:pPr>
              <a:spcAft>
                <a:spcPts val="600"/>
              </a:spcAft>
              <a:defRPr sz="1800"/>
            </a:pPr>
            <a:r>
              <a:t>Storage Optimization</a:t>
            </a:r>
          </a:p>
          <a:p>
            <a:pPr>
              <a:spcAft>
                <a:spcPts val="600"/>
              </a:spcAft>
              <a:defRPr sz="1800"/>
            </a:pPr>
            <a:r>
              <a:t>Optimize S3 storage classes</a:t>
            </a:r>
          </a:p>
          <a:p>
            <a:pPr>
              <a:spcAft>
                <a:spcPts val="600"/>
              </a:spcAft>
              <a:defRPr sz="1800"/>
            </a:pPr>
            <a:r>
              <a:t>Implement lifecycle policies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Reduce storage costs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Decision-Making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The benchmark provides actionable insights for:</a:t>
            </a:r>
          </a:p>
          <a:p>
            <a:pPr>
              <a:spcAft>
                <a:spcPts val="600"/>
              </a:spcAft>
              <a:defRPr sz="1800"/>
            </a:pPr>
            <a:r>
              <a:t>Architecture Decisions</a:t>
            </a:r>
          </a:p>
          <a:p>
            <a:pPr>
              <a:spcAft>
                <a:spcPts val="600"/>
              </a:spcAft>
              <a:defRPr sz="1800"/>
            </a:pPr>
            <a:r>
              <a:t>Which format to use for new projects</a:t>
            </a:r>
          </a:p>
          <a:p>
            <a:pPr>
              <a:spcAft>
                <a:spcPts val="600"/>
              </a:spcAft>
              <a:defRPr sz="1800"/>
            </a:pPr>
            <a:r>
              <a:t>Migration planning</a:t>
            </a:r>
          </a:p>
          <a:p>
            <a:pPr>
              <a:spcAft>
                <a:spcPts val="600"/>
              </a:spcAft>
              <a:defRPr sz="1800"/>
            </a:pPr>
            <a:r>
              <a:t>Hybrid architecture design</a:t>
            </a:r>
          </a:p>
          <a:p>
            <a:pPr>
              <a:spcAft>
                <a:spcPts val="600"/>
              </a:spcAft>
              <a:defRPr sz="1800"/>
            </a:pPr>
            <a:r>
              <a:t>Performance Tuning</a:t>
            </a:r>
          </a:p>
          <a:p>
            <a:pPr>
              <a:spcAft>
                <a:spcPts val="600"/>
              </a:spcAft>
              <a:defRPr sz="1800"/>
            </a:pPr>
            <a:r>
              <a:t>Query optimization priorities</a:t>
            </a:r>
          </a:p>
          <a:p>
            <a:pPr>
              <a:spcAft>
                <a:spcPts val="600"/>
              </a:spcAft>
              <a:defRPr sz="1800"/>
            </a:pPr>
            <a:r>
              <a:t>Infrastructure sizing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Decision-Making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Caching strategies</a:t>
            </a:r>
          </a:p>
          <a:p>
            <a:pPr>
              <a:spcAft>
                <a:spcPts val="600"/>
              </a:spcAft>
              <a:defRPr sz="1800"/>
            </a:pPr>
            <a:r>
              <a:t>Cost Management</a:t>
            </a:r>
          </a:p>
          <a:p>
            <a:pPr>
              <a:spcAft>
                <a:spcPts val="600"/>
              </a:spcAft>
              <a:defRPr sz="1800"/>
            </a:pPr>
            <a:r>
              <a:t>Budget planning</a:t>
            </a:r>
          </a:p>
          <a:p>
            <a:pPr>
              <a:spcAft>
                <a:spcPts val="600"/>
              </a:spcAft>
              <a:defRPr sz="1800"/>
            </a:pPr>
            <a:r>
              <a:t>Cost allocation</a:t>
            </a:r>
          </a:p>
          <a:p>
            <a:pPr>
              <a:spcAft>
                <a:spcPts val="600"/>
              </a:spcAft>
              <a:defRPr sz="1800"/>
            </a:pPr>
            <a:r>
              <a:t>ROI calculations</a:t>
            </a:r>
          </a:p>
          <a:p>
            <a:pPr>
              <a:spcAft>
                <a:spcPts val="600"/>
              </a:spcAft>
              <a:defRPr sz="1800"/>
            </a:pPr>
            <a:r>
              <a:t>Capacity Planning</a:t>
            </a:r>
          </a:p>
          <a:p>
            <a:pPr>
              <a:spcAft>
                <a:spcPts val="600"/>
              </a:spcAft>
              <a:defRPr sz="1800"/>
            </a:pPr>
            <a:r>
              <a:t>Resource requirements</a:t>
            </a:r>
          </a:p>
          <a:p>
            <a:pPr>
              <a:spcAft>
                <a:spcPts val="600"/>
              </a:spcAft>
              <a:defRPr sz="1800"/>
            </a:pPr>
            <a:r>
              <a:t>Scaling strategies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Decision-Making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Performance projections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#### Use Case 1: New Data Lake Architecture</a:t>
            </a:r>
          </a:p>
          <a:p>
            <a:pPr>
              <a:spcAft>
                <a:spcPts val="800"/>
              </a:spcAft>
              <a:defRPr sz="1600"/>
            </a:pPr>
            <a:r>
              <a:t>Scenario: Building a new data lake and deciding between formats.</a:t>
            </a:r>
          </a:p>
          <a:p>
            <a:pPr>
              <a:spcAft>
                <a:spcPts val="800"/>
              </a:spcAft>
              <a:defRPr sz="1600"/>
            </a:pPr>
            <a:r>
              <a:t>Value: Benchmark provides performance and cost data to make informed decision.</a:t>
            </a:r>
          </a:p>
          <a:p>
            <a:pPr>
              <a:spcAft>
                <a:spcPts val="800"/>
              </a:spcAft>
              <a:defRPr sz="1600"/>
            </a:pPr>
            <a:r>
              <a:t>Outcome: Choose format that balances performance, cost, and feature requirements.</a:t>
            </a:r>
          </a:p>
          <a:p>
            <a:pPr>
              <a:spcAft>
                <a:spcPts val="800"/>
              </a:spcAft>
              <a:defRPr sz="1600"/>
            </a:pPr>
            <a:r>
              <a:t>#### Use Case 2: Migration Planning</a:t>
            </a:r>
          </a:p>
          <a:p>
            <a:pPr>
              <a:spcAft>
                <a:spcPts val="800"/>
              </a:spcAft>
              <a:defRPr sz="1600"/>
            </a:pPr>
            <a:r>
              <a:t>Scenario: Migrating from Native to Iceberg format.</a:t>
            </a:r>
          </a:p>
          <a:p>
            <a:pPr>
              <a:spcAft>
                <a:spcPts val="800"/>
              </a:spcAft>
              <a:defRPr sz="1600"/>
            </a:pPr>
            <a:r>
              <a:t>Value: Understand performance impact and cost implications before migration.</a:t>
            </a:r>
          </a:p>
          <a:p>
            <a:pPr>
              <a:spcAft>
                <a:spcPts val="800"/>
              </a:spcAft>
              <a:defRPr sz="1600"/>
            </a:pPr>
            <a:r>
              <a:t>Outcome: Plan migration with confidence, optimize for target format.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#### Use Case 3: Cost Optimization</a:t>
            </a:r>
          </a:p>
          <a:p>
            <a:pPr>
              <a:spcAft>
                <a:spcPts val="800"/>
              </a:spcAft>
              <a:defRPr sz="1600"/>
            </a:pPr>
            <a:r>
              <a:t>Scenario: Reducing Snowflake costs.</a:t>
            </a:r>
          </a:p>
          <a:p>
            <a:pPr>
              <a:spcAft>
                <a:spcPts val="800"/>
              </a:spcAft>
              <a:defRPr sz="1600"/>
            </a:pPr>
            <a:r>
              <a:t>Value: Identify cost drivers and optimization opportunities.</a:t>
            </a:r>
          </a:p>
          <a:p>
            <a:pPr>
              <a:spcAft>
                <a:spcPts val="800"/>
              </a:spcAft>
              <a:defRPr sz="1600"/>
            </a:pPr>
            <a:r>
              <a:t>Outcome: Reduce costs by 20-40% through format optimization and warehouse sizing.</a:t>
            </a:r>
          </a:p>
          <a:p>
            <a:pPr>
              <a:spcAft>
                <a:spcPts val="800"/>
              </a:spcAft>
              <a:defRPr sz="1600"/>
            </a:pPr>
            <a:r>
              <a:t>#### Use Case 4: Performance Troubleshooting</a:t>
            </a:r>
          </a:p>
          <a:p>
            <a:pPr>
              <a:spcAft>
                <a:spcPts val="800"/>
              </a:spcAft>
              <a:defRPr sz="1600"/>
            </a:pPr>
            <a:r>
              <a:t>Scenario: Queries running slower than expected.</a:t>
            </a:r>
          </a:p>
          <a:p>
            <a:pPr>
              <a:spcAft>
                <a:spcPts val="800"/>
              </a:spcAft>
              <a:defRPr sz="1600"/>
            </a:pPr>
            <a:r>
              <a:t>Value: Compare performance across formats to identify bottlenecks.</a:t>
            </a:r>
          </a:p>
          <a:p>
            <a:pPr>
              <a:spcAft>
                <a:spcPts val="800"/>
              </a:spcAft>
              <a:defRPr sz="1600"/>
            </a:pPr>
            <a:r>
              <a:t>Outcome: Optimize queries and infrastructure based on benchmark insights.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Investment:</a:t>
            </a:r>
          </a:p>
          <a:p>
            <a:pPr>
              <a:spcAft>
                <a:spcPts val="600"/>
              </a:spcAft>
              <a:defRPr sz="1800"/>
            </a:pPr>
            <a:r>
              <a:t>Setup time: 2-4 hours (one-time)</a:t>
            </a:r>
          </a:p>
          <a:p>
            <a:pPr>
              <a:spcAft>
                <a:spcPts val="600"/>
              </a:spcAft>
              <a:defRPr sz="1800"/>
            </a:pPr>
            <a:r>
              <a:t>Test execution: 2-6 hours (per test run)</a:t>
            </a:r>
          </a:p>
          <a:p>
            <a:pPr>
              <a:spcAft>
                <a:spcPts val="600"/>
              </a:spcAft>
              <a:defRPr sz="1800"/>
            </a:pPr>
            <a:r>
              <a:t>Analysis time: 1-2 hours</a:t>
            </a:r>
          </a:p>
          <a:p>
            <a:pPr>
              <a:spcAft>
                <a:spcPts val="800"/>
              </a:spcAft>
              <a:defRPr sz="1600"/>
            </a:pPr>
            <a:r>
              <a:t>Returns:</a:t>
            </a:r>
          </a:p>
          <a:p>
            <a:pPr>
              <a:spcAft>
                <a:spcPts val="600"/>
              </a:spcAft>
              <a:defRPr sz="1800"/>
            </a:pPr>
            <a:r>
              <a:t>Cost Savings: 20-40% reduction in cloud costs</a:t>
            </a:r>
          </a:p>
          <a:p>
            <a:pPr>
              <a:spcAft>
                <a:spcPts val="600"/>
              </a:spcAft>
              <a:defRPr sz="1800"/>
            </a:pPr>
            <a:r>
              <a:t>Performance Gains: 10-30% improvement in query performance</a:t>
            </a:r>
          </a:p>
          <a:p>
            <a:pPr>
              <a:spcAft>
                <a:spcPts val="600"/>
              </a:spcAft>
              <a:defRPr sz="1800"/>
            </a:pPr>
            <a:r>
              <a:t>Risk Reduction: Avoid costly architectural mistakes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Time Savings: Faster decision-making with data-driven insights</a:t>
            </a:r>
          </a:p>
          <a:p>
            <a:pPr>
              <a:spcAft>
                <a:spcPts val="800"/>
              </a:spcAft>
              <a:defRPr sz="1600"/>
            </a:pPr>
            <a:r>
              <a:t>Break-Even: Typically achieved within first month of implementation.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Organizations using this benchmark gain:</a:t>
            </a:r>
          </a:p>
          <a:p>
            <a:pPr>
              <a:spcAft>
                <a:spcPts val="600"/>
              </a:spcAft>
              <a:defRPr sz="1800"/>
            </a:pPr>
            <a:r>
              <a:t>Data-Driven Decisions: Make decisions based on data, not assumptions</a:t>
            </a:r>
          </a:p>
          <a:p>
            <a:pPr>
              <a:spcAft>
                <a:spcPts val="600"/>
              </a:spcAft>
              <a:defRPr sz="1800"/>
            </a:pPr>
            <a:r>
              <a:t>Cost Efficiency: Optimize costs while maintaining performance</a:t>
            </a:r>
          </a:p>
          <a:p>
            <a:pPr>
              <a:spcAft>
                <a:spcPts val="600"/>
              </a:spcAft>
              <a:defRPr sz="1800"/>
            </a:pPr>
            <a:r>
              <a:t>Performance Excellence: Achieve best-in-class query performance</a:t>
            </a:r>
          </a:p>
          <a:p>
            <a:pPr>
              <a:spcAft>
                <a:spcPts val="600"/>
              </a:spcAft>
              <a:defRPr sz="1800"/>
            </a:pPr>
            <a:r>
              <a:t>Strategic Flexibility: Understand trade-offs for future planning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Run Your First Benchmark</a:t>
            </a:r>
          </a:p>
          <a:p>
            <a:pPr>
              <a:spcAft>
                <a:spcPts val="800"/>
              </a:spcAft>
              <a:defRPr sz="1600"/>
            </a:pPr>
            <a:r>
              <a:t>```bash</a:t>
            </a:r>
          </a:p>
          <a:p>
            <a:pPr>
              <a:spcAft>
                <a:spcPts val="800"/>
              </a:spcAft>
              <a:defRPr sz="1600"/>
            </a:pPr>
            <a:r>
              <a:t># Quick test to validate setup</a:t>
            </a:r>
          </a:p>
          <a:p>
            <a:pPr>
              <a:spcAft>
                <a:spcPts val="800"/>
              </a:spcAft>
              <a:defRPr sz="1600"/>
            </a:pPr>
            <a:r>
              <a:t>python benchmark/src/main.py --test-mode</a:t>
            </a:r>
          </a:p>
          <a:p>
            <a:pPr>
              <a:spcAft>
                <a:spcPts val="800"/>
              </a:spcAft>
              <a:defRPr sz="1600"/>
            </a:pPr>
            <a:r>
              <a:t>```</a:t>
            </a:r>
          </a:p>
          <a:p>
            <a:pPr>
              <a:spcAft>
                <a:spcPts val="600"/>
              </a:spcAft>
              <a:defRPr sz="1800"/>
            </a:pPr>
            <a:r>
              <a:t>Review Results</a:t>
            </a:r>
          </a:p>
          <a:p>
            <a:pPr>
              <a:spcAft>
                <a:spcPts val="600"/>
              </a:spcAft>
              <a:defRPr sz="1800"/>
            </a:pPr>
            <a:r>
              <a:t>Open HTML report in browser</a:t>
            </a:r>
          </a:p>
          <a:p>
            <a:pPr>
              <a:spcAft>
                <a:spcPts val="600"/>
              </a:spcAft>
              <a:defRPr sz="1800"/>
            </a:pPr>
            <a:r>
              <a:t>Review format comparisons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Identify key insights</a:t>
            </a:r>
          </a:p>
          <a:p>
            <a:pPr>
              <a:spcAft>
                <a:spcPts val="600"/>
              </a:spcAft>
              <a:defRPr sz="1800"/>
            </a:pPr>
            <a:r>
              <a:t>Analyze Your Workload</a:t>
            </a:r>
          </a:p>
          <a:p>
            <a:pPr>
              <a:spcAft>
                <a:spcPts val="600"/>
              </a:spcAft>
              <a:defRPr sz="1800"/>
            </a:pPr>
            <a:r>
              <a:t>Map your queries to TPC-DS query categories</a:t>
            </a:r>
          </a:p>
          <a:p>
            <a:pPr>
              <a:spcAft>
                <a:spcPts val="600"/>
              </a:spcAft>
              <a:defRPr sz="1800"/>
            </a:pPr>
            <a:r>
              <a:t>Identify which formats perform best for your patterns</a:t>
            </a:r>
          </a:p>
          <a:p>
            <a:pPr>
              <a:spcAft>
                <a:spcPts val="600"/>
              </a:spcAft>
              <a:defRPr sz="1800"/>
            </a:pPr>
            <a:r>
              <a:t>Consider cost implications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Going Beyond the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Full Benchmark Suite</a:t>
            </a:r>
          </a:p>
          <a:p>
            <a:pPr>
              <a:spcAft>
                <a:spcPts val="600"/>
              </a:spcAft>
              <a:defRPr sz="1800"/>
            </a:pPr>
            <a:r>
              <a:t>Run comprehensive test with all 99 queries</a:t>
            </a:r>
          </a:p>
          <a:p>
            <a:pPr>
              <a:spcAft>
                <a:spcPts val="600"/>
              </a:spcAft>
              <a:defRPr sz="1800"/>
            </a:pPr>
            <a:r>
              <a:t>Test multiple scale factors</a:t>
            </a:r>
          </a:p>
          <a:p>
            <a:pPr>
              <a:spcAft>
                <a:spcPts val="600"/>
              </a:spcAft>
              <a:defRPr sz="1800"/>
            </a:pPr>
            <a:r>
              <a:t>Compare different warehouse sizes</a:t>
            </a:r>
          </a:p>
          <a:p>
            <a:pPr>
              <a:spcAft>
                <a:spcPts val="600"/>
              </a:spcAft>
              <a:defRPr sz="1800"/>
            </a:pPr>
            <a:r>
              <a:t>Custom Analysis</a:t>
            </a:r>
          </a:p>
          <a:p>
            <a:pPr>
              <a:spcAft>
                <a:spcPts val="600"/>
              </a:spcAft>
              <a:defRPr sz="1800"/>
            </a:pPr>
            <a:r>
              <a:t>Export CSV data for custom analysis</a:t>
            </a:r>
          </a:p>
          <a:p>
            <a:pPr>
              <a:spcAft>
                <a:spcPts val="600"/>
              </a:spcAft>
              <a:defRPr sz="1800"/>
            </a:pPr>
            <a:r>
              <a:t>Create custom visualizations</a:t>
            </a:r>
          </a:p>
          <a:p>
            <a:pPr>
              <a:spcAft>
                <a:spcPts val="600"/>
              </a:spcAft>
              <a:defRPr sz="1800"/>
            </a:pPr>
            <a:r>
              <a:t>Integrate with your analytics tools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Going Beyond the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Continuous Monitoring</a:t>
            </a:r>
          </a:p>
          <a:p>
            <a:pPr>
              <a:spcAft>
                <a:spcPts val="600"/>
              </a:spcAft>
              <a:defRPr sz="1800"/>
            </a:pPr>
            <a:r>
              <a:t>Run benchmarks regularly</a:t>
            </a:r>
          </a:p>
          <a:p>
            <a:pPr>
              <a:spcAft>
                <a:spcPts val="600"/>
              </a:spcAft>
              <a:defRPr sz="1800"/>
            </a:pPr>
            <a:r>
              <a:t>Track performance trends</a:t>
            </a:r>
          </a:p>
          <a:p>
            <a:pPr>
              <a:spcAft>
                <a:spcPts val="600"/>
              </a:spcAft>
              <a:defRPr sz="1800"/>
            </a:pPr>
            <a:r>
              <a:t>Monitor cost changes</a:t>
            </a:r>
          </a:p>
          <a:p>
            <a:pPr>
              <a:spcAft>
                <a:spcPts val="600"/>
              </a:spcAft>
              <a:defRPr sz="1800"/>
            </a:pPr>
            <a:r>
              <a:t>Optimization Implementation</a:t>
            </a:r>
          </a:p>
          <a:p>
            <a:pPr>
              <a:spcAft>
                <a:spcPts val="600"/>
              </a:spcAft>
              <a:defRPr sz="1800"/>
            </a:pPr>
            <a:r>
              <a:t>Implement format recommendations</a:t>
            </a:r>
          </a:p>
          <a:p>
            <a:pPr>
              <a:spcAft>
                <a:spcPts val="600"/>
              </a:spcAft>
              <a:defRPr sz="1800"/>
            </a:pPr>
            <a:r>
              <a:t>Optimize warehouse sizing</a:t>
            </a:r>
          </a:p>
          <a:p>
            <a:pPr>
              <a:spcAft>
                <a:spcPts val="600"/>
              </a:spcAft>
              <a:defRPr sz="1800"/>
            </a:pPr>
            <a:r>
              <a:t>Tune queries based on insights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Custom Query Testing</a:t>
            </a:r>
          </a:p>
          <a:p>
            <a:pPr>
              <a:spcAft>
                <a:spcPts val="600"/>
              </a:spcAft>
              <a:defRPr sz="1800"/>
            </a:pPr>
            <a:r>
              <a:t>Add your own queries to the benchmark</a:t>
            </a:r>
          </a:p>
          <a:p>
            <a:pPr>
              <a:spcAft>
                <a:spcPts val="600"/>
              </a:spcAft>
              <a:defRPr sz="1800"/>
            </a:pPr>
            <a:r>
              <a:t>Test format-specific optimizations</a:t>
            </a:r>
          </a:p>
          <a:p>
            <a:pPr>
              <a:spcAft>
                <a:spcPts val="600"/>
              </a:spcAft>
              <a:defRPr sz="1800"/>
            </a:pPr>
            <a:r>
              <a:t>Validate performance improvements</a:t>
            </a:r>
          </a:p>
          <a:p>
            <a:pPr>
              <a:spcAft>
                <a:spcPts val="600"/>
              </a:spcAft>
              <a:defRPr sz="1800"/>
            </a:pPr>
            <a:r>
              <a:t>Multi-Scale Factor Analysis</a:t>
            </a:r>
          </a:p>
          <a:p>
            <a:pPr>
              <a:spcAft>
                <a:spcPts val="600"/>
              </a:spcAft>
              <a:defRPr sz="1800"/>
            </a:pPr>
            <a:r>
              <a:t>Test at different data volumes</a:t>
            </a:r>
          </a:p>
          <a:p>
            <a:pPr>
              <a:spcAft>
                <a:spcPts val="600"/>
              </a:spcAft>
              <a:defRPr sz="1800"/>
            </a:pPr>
            <a:r>
              <a:t>Understand scalability characteristics</a:t>
            </a:r>
          </a:p>
          <a:p>
            <a:pPr>
              <a:spcAft>
                <a:spcPts val="600"/>
              </a:spcAft>
              <a:defRPr sz="1800"/>
            </a:pPr>
            <a:r>
              <a:t>Plan for growth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Cost Modeling</a:t>
            </a:r>
          </a:p>
          <a:p>
            <a:pPr>
              <a:spcAft>
                <a:spcPts val="600"/>
              </a:spcAft>
              <a:defRPr sz="1800"/>
            </a:pPr>
            <a:r>
              <a:t>Model costs for different scenarios</a:t>
            </a:r>
          </a:p>
          <a:p>
            <a:pPr>
              <a:spcAft>
                <a:spcPts val="600"/>
              </a:spcAft>
              <a:defRPr sz="1800"/>
            </a:pPr>
            <a:r>
              <a:t>Plan budgets based on benchmark data</a:t>
            </a:r>
          </a:p>
          <a:p>
            <a:pPr>
              <a:spcAft>
                <a:spcPts val="600"/>
              </a:spcAft>
              <a:defRPr sz="1800"/>
            </a:pPr>
            <a:r>
              <a:t>Calculate ROI for optimizations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and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Main README: README.md - Project overview</a:t>
            </a:r>
          </a:p>
          <a:p>
            <a:pPr>
              <a:spcAft>
                <a:spcPts val="600"/>
              </a:spcAft>
              <a:defRPr sz="1800"/>
            </a:pPr>
            <a:r>
              <a:t>Setup Guide: setup/README.md - Detailed setup instructions</a:t>
            </a:r>
          </a:p>
          <a:p>
            <a:pPr>
              <a:spcAft>
                <a:spcPts val="600"/>
              </a:spcAft>
              <a:defRPr sz="1800"/>
            </a:pPr>
            <a:r>
              <a:t>Benchmark Guide: benchmark/README.md - Testing framework documentation</a:t>
            </a:r>
          </a:p>
          <a:p>
            <a:pPr>
              <a:spcAft>
                <a:spcPts val="600"/>
              </a:spcAft>
              <a:defRPr sz="1800"/>
            </a:pPr>
            <a:r>
              <a:t>Cost Optimization: docs/cost-optimization-guide.md - Cost analysis guide</a:t>
            </a:r>
          </a:p>
          <a:p>
            <a:pPr>
              <a:spcAft>
                <a:spcPts val="600"/>
              </a:spcAft>
              <a:defRPr sz="1800"/>
            </a:pPr>
            <a:r>
              <a:t>Troubleshooting: docs/troubleshooting-journey.md - Common issues and solutions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600"/>
              </a:spcAft>
              <a:defRPr sz="1800"/>
            </a:pPr>
            <a:r>
              <a:t>Review troubleshooting guides in docs/</a:t>
            </a:r>
          </a:p>
          <a:p>
            <a:pPr>
              <a:spcAft>
                <a:spcPts val="600"/>
              </a:spcAft>
              <a:defRPr sz="1800"/>
            </a:pPr>
            <a:r>
              <a:t>Check logs in benchmark/logs/ and results/logs/</a:t>
            </a:r>
          </a:p>
          <a:p>
            <a:pPr>
              <a:spcAft>
                <a:spcPts val="600"/>
              </a:spcAft>
              <a:defRPr sz="1800"/>
            </a:pPr>
            <a:r>
              <a:t>Verify environment configuration</a:t>
            </a:r>
          </a:p>
          <a:p>
            <a:pPr>
              <a:spcAft>
                <a:spcPts val="600"/>
              </a:spcAft>
              <a:defRPr sz="1800"/>
            </a:pPr>
            <a:r>
              <a:t>Test Snowflake connectivity separately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If you find improvements or have suggestions:</a:t>
            </a:r>
          </a:p>
          <a:p>
            <a:pPr>
              <a:spcAft>
                <a:spcPts val="600"/>
              </a:spcAft>
              <a:defRPr sz="1800"/>
            </a:pPr>
            <a:r>
              <a:t>Report issues</a:t>
            </a:r>
          </a:p>
          <a:p>
            <a:pPr>
              <a:spcAft>
                <a:spcPts val="600"/>
              </a:spcAft>
              <a:defRPr sz="1800"/>
            </a:pPr>
            <a:r>
              <a:t>Contribute optimizations</a:t>
            </a:r>
          </a:p>
          <a:p>
            <a:pPr>
              <a:spcAft>
                <a:spcPts val="600"/>
              </a:spcAft>
              <a:defRPr sz="1800"/>
            </a:pPr>
            <a:r>
              <a:t>Share benchmark results (anonymized)</a:t>
            </a:r>
          </a:p>
          <a:p>
            <a:pPr>
              <a:spcAft>
                <a:spcPts val="600"/>
              </a:spcAft>
              <a:defRPr sz="1800"/>
            </a:pPr>
            <a:r>
              <a:t>Improve documentation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/>
          <a:p>
            <a:pPr>
              <a:spcAft>
                <a:spcPts val="800"/>
              </a:spcAft>
              <a:defRPr sz="1600"/>
            </a:pPr>
            <a:r>
              <a:t>The Snowflake Iceberg Performance Benchmark provides a comprehensive, data-driven approach to evaluating table storage formats. By running this benchmark, you gain:</a:t>
            </a:r>
          </a:p>
          <a:p>
            <a:pPr>
              <a:spcAft>
                <a:spcPts val="600"/>
              </a:spcAft>
              <a:defRPr sz="1800"/>
            </a:pPr>
            <a:r>
              <a:t>Quantifiable Performance Data: Real metrics on execution time, throughput, and efficiency</a:t>
            </a:r>
          </a:p>
          <a:p>
            <a:pPr>
              <a:spcAft>
                <a:spcPts val="600"/>
              </a:spcAft>
              <a:defRPr sz="1800"/>
            </a:pPr>
            <a:r>
              <a:t>Cost Insights: Detailed cost breakdowns and optimization opportunities</a:t>
            </a:r>
          </a:p>
          <a:p>
            <a:pPr>
              <a:spcAft>
                <a:spcPts val="600"/>
              </a:spcAft>
              <a:defRPr sz="1800"/>
            </a:pPr>
            <a:r>
              <a:t>Decision Support: Data-driven recommendations for architectural choices</a:t>
            </a:r>
          </a:p>
          <a:p>
            <a:pPr>
              <a:spcAft>
                <a:spcPts val="600"/>
              </a:spcAft>
              <a:defRPr sz="1800"/>
            </a:pPr>
            <a:r>
              <a:t>Risk Mitigation: Understand trade-offs before committing to a format</a:t>
            </a:r>
          </a:p>
          <a:p>
            <a:pPr>
              <a:spcAft>
                <a:spcPts val="800"/>
              </a:spcAft>
              <a:defRPr sz="1600"/>
            </a:pPr>
            <a:r>
              <a:t>Whether you're evaluating formats for a new project, planning a migration, or optimizing costs, this benchmark provides the insights you need to make informed decisions.</a:t>
            </a:r>
          </a:p>
          <a:p>
            <a:pPr>
              <a:spcAft>
                <a:spcPts val="800"/>
              </a:spcAft>
              <a:defRPr sz="1600"/>
            </a:pPr>
            <a:r>
              <a:t>Start your benchmark today and make data-driven architectural decisions!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/>
            </a:pPr>
            <a:r>
              <a:t>Quantifiable Performance Data: Real metrics on execution time, throughput, and efficiency</a:t>
            </a:r>
          </a:p>
          <a:p>
            <a:pPr>
              <a:spcAft>
                <a:spcPts val="1200"/>
              </a:spcAft>
              <a:defRPr sz="2000"/>
            </a:pPr>
            <a:r>
              <a:t>Cost Insights: Detailed cost breakdowns and optimization opportunities</a:t>
            </a:r>
          </a:p>
          <a:p>
            <a:pPr>
              <a:spcAft>
                <a:spcPts val="1200"/>
              </a:spcAft>
              <a:defRPr sz="2000"/>
            </a:pPr>
            <a:r>
              <a:t>Decision Support: Data-driven recommendations for architectural choices</a:t>
            </a:r>
          </a:p>
          <a:p>
            <a:pPr>
              <a:spcAft>
                <a:spcPts val="1200"/>
              </a:spcAft>
              <a:defRPr sz="2000"/>
            </a:pPr>
            <a:r>
              <a:t>Risk Mitigation: Understand trade-offs before committing to a format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